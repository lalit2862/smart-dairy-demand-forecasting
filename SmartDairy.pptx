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 Units Sold</c:v>
                </c:pt>
              </c:strCache>
            </c:strRef>
          </c:tx>
          <c:spPr>
            <a:solidFill>
              <a:srgbClr val="00B4D8"/>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00B4D8"/>
              </a:solidFill>
              <a:effectLst/>
            </c:spPr>
          </c:dPt>
          <c:dPt>
            <c:idx val="1"/>
            <c:invertIfNegative val="0"/>
            <c:bubble3D val="0"/>
            <c:spPr>
              <a:solidFill>
                <a:srgbClr val="06D6A0"/>
              </a:solidFill>
              <a:effectLst/>
            </c:spPr>
          </c:dPt>
          <c:dPt>
            <c:idx val="2"/>
            <c:invertIfNegative val="0"/>
            <c:bubble3D val="0"/>
            <c:spPr>
              <a:solidFill>
                <a:srgbClr val="FFD166"/>
              </a:solidFill>
              <a:effectLst/>
            </c:spPr>
          </c:dPt>
          <c:dPt>
            <c:idx val="3"/>
            <c:invertIfNegative val="0"/>
            <c:bubble3D val="0"/>
            <c:spPr>
              <a:solidFill>
                <a:srgbClr val="FF6B6B"/>
              </a:solidFill>
              <a:effectLst/>
            </c:spPr>
          </c:dPt>
          <c:dPt>
            <c:idx val="4"/>
            <c:invertIfNegative val="0"/>
            <c:bubble3D val="0"/>
            <c:spPr>
              <a:solidFill>
                <a:srgbClr val="A78BFA"/>
              </a:solidFill>
              <a:effectLst/>
            </c:spPr>
          </c:dPt>
          <c:cat>
            <c:multiLvlStrRef>
              <c:f>Sheet1!$A$2:$A$6</c:f>
              <c:multiLvlStrCache>
                <c:ptCount val="5"/>
                <c:lvl>
                  <c:pt idx="0">
                    <c:v>Curd</c:v>
                  </c:pt>
                  <c:pt idx="1">
                    <c:v>Milk</c:v>
                  </c:pt>
                  <c:pt idx="2">
                    <c:v>Paneer</c:v>
                  </c:pt>
                  <c:pt idx="3">
                    <c:v>Cheese</c:v>
                  </c:pt>
                  <c:pt idx="4">
                    <c:v>Butter</c:v>
                  </c:pt>
                </c:lvl>
              </c:multiLvlStrCache>
            </c:multiLvlStrRef>
          </c:cat>
          <c:val>
            <c:numRef>
              <c:f>Sheet1!$B$2:$B$6</c:f>
              <c:numCache>
                <c:formatCode>General</c:formatCode>
                <c:ptCount val="5"/>
                <c:pt idx="0">
                  <c:v>1860501</c:v>
                </c:pt>
                <c:pt idx="1">
                  <c:v>1855348</c:v>
                </c:pt>
                <c:pt idx="2">
                  <c:v>1773666</c:v>
                </c:pt>
                <c:pt idx="3">
                  <c:v>1765420</c:v>
                </c:pt>
                <c:pt idx="4">
                  <c:v>1764685</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8F4FD"/>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43B5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DA9C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62537"/>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B4D8"/>
                </a:solidFill>
                <a:latin typeface="Arial"/>
              </a:defRPr>
            </a:pPr>
            <a:r>
              <a:rPr sz="1100" b="0" i="0" u="none" strike="noStrike">
                <a:solidFill>
                  <a:srgbClr val="00B4D8"/>
                </a:solidFill>
                <a:latin typeface="Arial"/>
              </a:rPr>
              <a:t>Monthly Average Sales</a:t>
            </a:r>
          </a:p>
        </c:rich>
      </c:tx>
      <c:layout/>
      <c:overlay val="0"/>
    </c:title>
    <c:autoTitleDeleted val="0"/>
    <c:plotArea>
      <c:layout/>
      <c:lineChart>
        <c:varyColors val="0"/>
        <c:ser>
          <c:idx val="0"/>
          <c:order val="0"/>
          <c:tx>
            <c:strRef>
              <c:f>Sheet1!$B$1</c:f>
              <c:strCache>
                <c:ptCount val="1"/>
                <c:pt idx="0">
                  <c:v>Avg Daily Sales</c:v>
                </c:pt>
              </c:strCache>
            </c:strRef>
          </c:tx>
          <c:spPr>
            <a:solidFill>
              <a:srgbClr val="00B4D8"/>
            </a:solidFill>
            <a:ln w="31750" cap="flat">
              <a:solidFill>
                <a:srgbClr val="00B4D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B4D8"/>
              </a:solidFill>
              <a:ln w="9525" cap="flat">
                <a:solidFill>
                  <a:srgbClr val="00B4D8"/>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241</c:v>
                </c:pt>
                <c:pt idx="1">
                  <c:v>210</c:v>
                </c:pt>
                <c:pt idx="2">
                  <c:v>314</c:v>
                </c:pt>
                <c:pt idx="3">
                  <c:v>225</c:v>
                </c:pt>
                <c:pt idx="4">
                  <c:v>228</c:v>
                </c:pt>
                <c:pt idx="5">
                  <c:v>224</c:v>
                </c:pt>
                <c:pt idx="6">
                  <c:v>224</c:v>
                </c:pt>
                <c:pt idx="7">
                  <c:v>238</c:v>
                </c:pt>
                <c:pt idx="8">
                  <c:v>211</c:v>
                </c:pt>
                <c:pt idx="9">
                  <c:v>314</c:v>
                </c:pt>
                <c:pt idx="10">
                  <c:v>320</c:v>
                </c:pt>
                <c:pt idx="11">
                  <c:v>211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8F4F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B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DA9C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62537"/>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D166"/>
                </a:solidFill>
                <a:latin typeface="Arial"/>
              </a:defRPr>
            </a:pPr>
            <a:r>
              <a:rPr sz="1100" b="0" i="0" u="none" strike="noStrike">
                <a:solidFill>
                  <a:srgbClr val="FFD166"/>
                </a:solidFill>
                <a:latin typeface="Arial"/>
              </a:rPr>
              <a:t>Festival vs Non-Festival Sales</a:t>
            </a:r>
          </a:p>
        </c:rich>
      </c:tx>
      <c:layout/>
      <c:overlay val="0"/>
    </c:title>
    <c:autoTitleDeleted val="0"/>
    <c:plotArea>
      <c:layout/>
      <c:barChart>
        <c:barDir val="bar"/>
        <c:grouping val="clustered"/>
        <c:varyColors val="0"/>
        <c:ser>
          <c:idx val="0"/>
          <c:order val="0"/>
          <c:tx>
            <c:strRef>
              <c:f>Sheet1!$B$1</c:f>
              <c:strCache>
                <c:ptCount val="1"/>
                <c:pt idx="0">
                  <c:v>Avg Units</c:v>
                </c:pt>
              </c:strCache>
            </c:strRef>
          </c:tx>
          <c:spPr>
            <a:solidFill>
              <a:srgbClr val="8DA9C4"/>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8DA9C4"/>
              </a:solidFill>
              <a:effectLst/>
            </c:spPr>
          </c:dPt>
          <c:dPt>
            <c:idx val="1"/>
            <c:invertIfNegative val="0"/>
            <c:bubble3D val="0"/>
            <c:spPr>
              <a:solidFill>
                <a:srgbClr val="FFD166"/>
              </a:solidFill>
              <a:effectLst/>
            </c:spPr>
          </c:dPt>
          <c:cat>
            <c:multiLvlStrRef>
              <c:f>Sheet1!$A$2:$A$3</c:f>
              <c:multiLvlStrCache>
                <c:ptCount val="2"/>
                <c:lvl>
                  <c:pt idx="0">
                    <c:v>No Festival</c:v>
                  </c:pt>
                  <c:pt idx="1">
                    <c:v>Festival Day</c:v>
                  </c:pt>
                </c:lvl>
              </c:multiLvlStrCache>
            </c:multiLvlStrRef>
          </c:cat>
          <c:val>
            <c:numRef>
              <c:f>Sheet1!$B$2:$B$3</c:f>
              <c:numCache>
                <c:formatCode>General</c:formatCode>
                <c:ptCount val="2"/>
                <c:pt idx="0">
                  <c:v>224</c:v>
                </c:pt>
                <c:pt idx="1">
                  <c:v>316</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8F4FD"/>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DA9C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62537"/>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Region Sales</c:v>
                </c:pt>
              </c:strCache>
            </c:strRef>
          </c:tx>
          <c:spPr>
            <a:solidFill>
              <a:schemeClr val="accent1"/>
            </a:solidFill>
            <a:ln w="9525" cap="flat">
              <a:solidFill>
                <a:srgbClr val="F9F9F9"/>
              </a:solidFill>
              <a:prstDash val="solid"/>
              <a:round/>
            </a:ln>
            <a:effectLst/>
          </c:spPr>
          <c:dPt>
            <c:idx val="0"/>
            <c:bubble3D val="0"/>
            <c:spPr>
              <a:solidFill>
                <a:srgbClr val="00B4D8"/>
              </a:solidFill>
              <a:effectLst/>
            </c:spPr>
          </c:dPt>
          <c:dPt>
            <c:idx val="1"/>
            <c:bubble3D val="0"/>
            <c:spPr>
              <a:solidFill>
                <a:srgbClr val="06D6A0"/>
              </a:solidFill>
              <a:effectLst/>
            </c:spPr>
          </c:dPt>
          <c:dPt>
            <c:idx val="2"/>
            <c:bubble3D val="0"/>
            <c:spPr>
              <a:solidFill>
                <a:srgbClr val="FFD166"/>
              </a:solidFill>
              <a:effectLst/>
            </c:spPr>
          </c:dPt>
          <c:dPt>
            <c:idx val="3"/>
            <c:bubble3D val="0"/>
            <c:spPr>
              <a:solidFill>
                <a:srgbClr val="FF6B6B"/>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West</c:v>
                </c:pt>
                <c:pt idx="1">
                  <c:v>South</c:v>
                </c:pt>
                <c:pt idx="2">
                  <c:v>North</c:v>
                </c:pt>
                <c:pt idx="3">
                  <c:v>East</c:v>
                </c:pt>
              </c:strCache>
            </c:strRef>
          </c:cat>
          <c:val>
            <c:numRef>
              <c:f>Sheet1!$B$2:$B$5</c:f>
              <c:numCache>
                <c:ptCount val="4"/>
                <c:pt idx="0">
                  <c:v>2266660</c:v>
                </c:pt>
                <c:pt idx="1">
                  <c:v>2253509</c:v>
                </c:pt>
                <c:pt idx="2">
                  <c:v>2250642</c:v>
                </c:pt>
                <c:pt idx="3">
                  <c:v>2248809</c:v>
                </c:pt>
              </c:numCache>
            </c:numRef>
          </c:val>
        </c:ser>
        <c:firstSliceAng val="0"/>
      </c:pieChart>
      <c:spPr>
        <a:noFill/>
        <a:ln>
          <a:noFill/>
        </a:ln>
        <a:effectLst/>
      </c:spPr>
    </c:plotArea>
    <c:plotVisOnly val="1"/>
    <c:dispBlanksAs val="span"/>
  </c:chart>
  <c:spPr>
    <a:solidFill>
      <a:srgbClr val="162537"/>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MAE</c:v>
                </c:pt>
              </c:strCache>
            </c:strRef>
          </c:tx>
          <c:spPr>
            <a:solidFill>
              <a:srgbClr val="FF6B6B"/>
            </a:solidFill>
            <a:effectLst/>
          </c:spPr>
          <c:invertIfNegative val="0"/>
          <c:dLbls>
            <c:numFmt formatCode="#,##0" sourceLinked="0"/>
            <c:txPr>
              <a:bodyPr/>
              <a:lstStyle/>
              <a:p>
                <a:pPr>
                  <a:defRPr b="0" i="0" strike="noStrike" sz="95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ARIMA</c:v>
                  </c:pt>
                  <c:pt idx="1">
                    <c:v>SARIMA</c:v>
                  </c:pt>
                  <c:pt idx="2">
                    <c:v>Prophet</c:v>
                  </c:pt>
                </c:lvl>
              </c:multiLvlStrCache>
            </c:multiLvlStrRef>
          </c:cat>
          <c:val>
            <c:numRef>
              <c:f>Sheet1!$B$2:$B$4</c:f>
              <c:numCache>
                <c:formatCode>General</c:formatCode>
                <c:ptCount val="3"/>
                <c:pt idx="0">
                  <c:v>42.5</c:v>
                </c:pt>
                <c:pt idx="1">
                  <c:v>35.2</c:v>
                </c:pt>
                <c:pt idx="2">
                  <c:v>18.7</c:v>
                </c:pt>
              </c:numCache>
            </c:numRef>
          </c:val>
        </c:ser>
        <c:ser>
          <c:idx val="1"/>
          <c:order val="1"/>
          <c:tx>
            <c:strRef>
              <c:f>Sheet1!$C$1</c:f>
              <c:strCache>
                <c:ptCount val="1"/>
                <c:pt idx="0">
                  <c:v>RMSE</c:v>
                </c:pt>
              </c:strCache>
            </c:strRef>
          </c:tx>
          <c:spPr>
            <a:solidFill>
              <a:srgbClr val="00B4D8"/>
            </a:solidFill>
            <a:effectLst/>
          </c:spPr>
          <c:invertIfNegative val="0"/>
          <c:dLbls>
            <c:numFmt formatCode="#,##0" sourceLinked="0"/>
            <c:txPr>
              <a:bodyPr/>
              <a:lstStyle/>
              <a:p>
                <a:pPr>
                  <a:defRPr b="0" i="0" strike="noStrike" sz="95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ARIMA</c:v>
                  </c:pt>
                  <c:pt idx="1">
                    <c:v>SARIMA</c:v>
                  </c:pt>
                  <c:pt idx="2">
                    <c:v>Prophet</c:v>
                  </c:pt>
                </c:lvl>
              </c:multiLvlStrCache>
            </c:multiLvlStrRef>
          </c:cat>
          <c:val>
            <c:numRef>
              <c:f>Sheet1!$C$2:$C$4</c:f>
              <c:numCache>
                <c:formatCode>General</c:formatCode>
                <c:ptCount val="3"/>
                <c:pt idx="0">
                  <c:v>55.3</c:v>
                </c:pt>
                <c:pt idx="1">
                  <c:v>46.8</c:v>
                </c:pt>
                <c:pt idx="2">
                  <c:v>24.1</c:v>
                </c:pt>
              </c:numCache>
            </c:numRef>
          </c:val>
        </c:ser>
        <c:dLbls>
          <c:numFmt formatCode="#,##0" sourceLinked="0"/>
          <c:txPr>
            <a:bodyPr/>
            <a:lstStyle/>
            <a:p>
              <a:pPr>
                <a:defRPr b="0" i="0" strike="noStrike" sz="95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8F4F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B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DA9C4"/>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E8F4FD"/>
              </a:solidFill>
            </a:defRPr>
          </a:pPr>
          <a:endParaRPr lang="en-US"/>
        </a:p>
      </c:txPr>
    </c:legend>
    <c:plotVisOnly val="1"/>
    <c:dispBlanksAs val="span"/>
  </c:chart>
  <c:spPr>
    <a:solidFill>
      <a:srgbClr val="16253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1097280"/>
            <a:ext cx="4114800" cy="4114800"/>
          </a:xfrm>
          <a:prstGeom prst="ellipse">
            <a:avLst/>
          </a:prstGeom>
          <a:solidFill>
            <a:srgbClr val="023E8A">
              <a:alpha val="40000"/>
            </a:srgbClr>
          </a:solidFill>
          <a:ln w="12700">
            <a:solidFill>
              <a:srgbClr val="023E8A"/>
            </a:solidFill>
            <a:prstDash val="solid"/>
          </a:ln>
        </p:spPr>
      </p:sp>
      <p:sp>
        <p:nvSpPr>
          <p:cNvPr id="3" name="Shape 1"/>
          <p:cNvSpPr/>
          <p:nvPr/>
        </p:nvSpPr>
        <p:spPr>
          <a:xfrm>
            <a:off x="-1097280" y="2926080"/>
            <a:ext cx="3200400" cy="3200400"/>
          </a:xfrm>
          <a:prstGeom prst="ellipse">
            <a:avLst/>
          </a:prstGeom>
          <a:solidFill>
            <a:srgbClr val="00B4D8">
              <a:alpha val="30000"/>
            </a:srgbClr>
          </a:solidFill>
          <a:ln w="12700">
            <a:solidFill>
              <a:srgbClr val="00B4D8"/>
            </a:solidFill>
            <a:prstDash val="solid"/>
          </a:ln>
        </p:spPr>
      </p:sp>
      <p:sp>
        <p:nvSpPr>
          <p:cNvPr id="4" name="Shape 2"/>
          <p:cNvSpPr/>
          <p:nvPr/>
        </p:nvSpPr>
        <p:spPr>
          <a:xfrm>
            <a:off x="548640" y="914400"/>
            <a:ext cx="2560320" cy="347472"/>
          </a:xfrm>
          <a:prstGeom prst="roundRect">
            <a:avLst>
              <a:gd name="adj" fmla="val 26316"/>
            </a:avLst>
          </a:prstGeom>
          <a:solidFill>
            <a:srgbClr val="00B4D8"/>
          </a:solidFill>
          <a:ln w="12700">
            <a:solidFill>
              <a:srgbClr val="00B4D8"/>
            </a:solidFill>
            <a:prstDash val="solid"/>
          </a:ln>
        </p:spPr>
      </p:sp>
      <p:sp>
        <p:nvSpPr>
          <p:cNvPr id="5" name="Text 3"/>
          <p:cNvSpPr/>
          <p:nvPr/>
        </p:nvSpPr>
        <p:spPr>
          <a:xfrm>
            <a:off x="548640" y="914400"/>
            <a:ext cx="2560320" cy="347472"/>
          </a:xfrm>
          <a:prstGeom prst="rect">
            <a:avLst/>
          </a:prstGeom>
          <a:noFill/>
          <a:ln/>
        </p:spPr>
        <p:txBody>
          <a:bodyPr wrap="square" lIns="0" tIns="0" rIns="0" bIns="0" rtlCol="0" anchor="ctr"/>
          <a:lstStyle/>
          <a:p>
            <a:pPr algn="ctr" indent="0" marL="0">
              <a:buNone/>
            </a:pPr>
            <a:r>
              <a:rPr lang="en-US" sz="900" b="1" dirty="0">
                <a:solidFill>
                  <a:srgbClr val="0D1B2A"/>
                </a:solidFill>
              </a:rPr>
              <a:t>AI-POWERED FORECASTING</a:t>
            </a:r>
            <a:endParaRPr lang="en-US" sz="900" dirty="0"/>
          </a:p>
        </p:txBody>
      </p:sp>
      <p:sp>
        <p:nvSpPr>
          <p:cNvPr id="6" name="Text 4"/>
          <p:cNvSpPr/>
          <p:nvPr/>
        </p:nvSpPr>
        <p:spPr>
          <a:xfrm>
            <a:off x="548640" y="1417320"/>
            <a:ext cx="7772400" cy="2011680"/>
          </a:xfrm>
          <a:prstGeom prst="rect">
            <a:avLst/>
          </a:prstGeom>
          <a:noFill/>
          <a:ln/>
        </p:spPr>
        <p:txBody>
          <a:bodyPr wrap="square" rtlCol="0" anchor="ctr"/>
          <a:lstStyle/>
          <a:p>
            <a:pPr indent="0" marL="0">
              <a:lnSpc>
                <a:spcPct val="110000"/>
              </a:lnSpc>
              <a:buNone/>
            </a:pPr>
            <a:r>
              <a:rPr lang="en-US" sz="4600" b="1" dirty="0">
                <a:solidFill>
                  <a:srgbClr val="FFFFFF"/>
                </a:solidFill>
                <a:latin typeface="Calibri" pitchFamily="34" charset="0"/>
                <a:ea typeface="Calibri" pitchFamily="34" charset="-122"/>
                <a:cs typeface="Calibri" pitchFamily="34" charset="-120"/>
              </a:rPr>
              <a:t>Smart Dairy</a:t>
            </a:r>
            <a:endParaRPr lang="en-US" sz="4600" dirty="0"/>
          </a:p>
          <a:p>
            <a:pPr indent="0" marL="0">
              <a:lnSpc>
                <a:spcPct val="110000"/>
              </a:lnSpc>
              <a:buNone/>
            </a:pPr>
            <a:r>
              <a:rPr lang="en-US" sz="4600" b="1" dirty="0">
                <a:solidFill>
                  <a:srgbClr val="FFFFFF"/>
                </a:solidFill>
                <a:latin typeface="Calibri" pitchFamily="34" charset="0"/>
                <a:ea typeface="Calibri" pitchFamily="34" charset="-122"/>
                <a:cs typeface="Calibri" pitchFamily="34" charset="-120"/>
              </a:rPr>
              <a:t>Demand Intelligence</a:t>
            </a:r>
            <a:endParaRPr lang="en-US" sz="4600" dirty="0"/>
          </a:p>
        </p:txBody>
      </p:sp>
      <p:sp>
        <p:nvSpPr>
          <p:cNvPr id="7" name="Text 5"/>
          <p:cNvSpPr/>
          <p:nvPr/>
        </p:nvSpPr>
        <p:spPr>
          <a:xfrm>
            <a:off x="548640" y="3474720"/>
            <a:ext cx="6400800" cy="548640"/>
          </a:xfrm>
          <a:prstGeom prst="rect">
            <a:avLst/>
          </a:prstGeom>
          <a:noFill/>
          <a:ln/>
        </p:spPr>
        <p:txBody>
          <a:bodyPr wrap="square" rtlCol="0" anchor="ctr"/>
          <a:lstStyle/>
          <a:p>
            <a:pPr indent="0" marL="0">
              <a:buNone/>
            </a:pPr>
            <a:r>
              <a:rPr lang="en-US" sz="1600" dirty="0">
                <a:solidFill>
                  <a:srgbClr val="8DA9C4"/>
                </a:solidFill>
                <a:latin typeface="Calibri" pitchFamily="34" charset="0"/>
                <a:ea typeface="Calibri" pitchFamily="34" charset="-122"/>
                <a:cs typeface="Calibri" pitchFamily="34" charset="-120"/>
              </a:rPr>
              <a:t>Data-Driven Forecasting Dashboard for Dairy Products</a:t>
            </a:r>
            <a:endParaRPr lang="en-US" sz="1600" dirty="0"/>
          </a:p>
        </p:txBody>
      </p:sp>
      <p:sp>
        <p:nvSpPr>
          <p:cNvPr id="8" name="Shape 6"/>
          <p:cNvSpPr/>
          <p:nvPr/>
        </p:nvSpPr>
        <p:spPr>
          <a:xfrm>
            <a:off x="548640" y="4160520"/>
            <a:ext cx="3200400" cy="36576"/>
          </a:xfrm>
          <a:prstGeom prst="rect">
            <a:avLst/>
          </a:prstGeom>
          <a:solidFill>
            <a:srgbClr val="00B4D8"/>
          </a:solidFill>
          <a:ln w="12700">
            <a:solidFill>
              <a:srgbClr val="00B4D8"/>
            </a:solidFill>
            <a:prstDash val="solid"/>
          </a:ln>
        </p:spPr>
      </p:sp>
      <p:sp>
        <p:nvSpPr>
          <p:cNvPr id="9" name="Text 7"/>
          <p:cNvSpPr/>
          <p:nvPr/>
        </p:nvSpPr>
        <p:spPr>
          <a:xfrm>
            <a:off x="548640" y="4343400"/>
            <a:ext cx="7772400" cy="411480"/>
          </a:xfrm>
          <a:prstGeom prst="rect">
            <a:avLst/>
          </a:prstGeom>
          <a:noFill/>
          <a:ln/>
        </p:spPr>
        <p:txBody>
          <a:bodyPr wrap="square" rtlCol="0" anchor="ctr"/>
          <a:lstStyle/>
          <a:p>
            <a:pPr indent="0" marL="0">
              <a:buNone/>
            </a:pPr>
            <a:r>
              <a:rPr lang="en-US" sz="1200" dirty="0">
                <a:solidFill>
                  <a:srgbClr val="8DA9C4"/>
                </a:solidFill>
              </a:rPr>
              <a:t>5 Products  •  4 Regions  •  5 Years of Data  •  9M+ Records</a:t>
            </a:r>
            <a:endParaRPr lang="en-US" sz="1200" dirty="0"/>
          </a:p>
        </p:txBody>
      </p:sp>
      <p:sp>
        <p:nvSpPr>
          <p:cNvPr id="10" name="Text 8"/>
          <p:cNvSpPr/>
          <p:nvPr/>
        </p:nvSpPr>
        <p:spPr>
          <a:xfrm>
            <a:off x="5943600" y="4754880"/>
            <a:ext cx="2926080" cy="320040"/>
          </a:xfrm>
          <a:prstGeom prst="rect">
            <a:avLst/>
          </a:prstGeom>
          <a:noFill/>
          <a:ln/>
        </p:spPr>
        <p:txBody>
          <a:bodyPr wrap="square" rtlCol="0" anchor="ctr"/>
          <a:lstStyle/>
          <a:p>
            <a:pPr algn="r" indent="0" marL="0">
              <a:buNone/>
            </a:pPr>
            <a:r>
              <a:rPr lang="en-US" sz="900" dirty="0">
                <a:solidFill>
                  <a:srgbClr val="8DA9C4"/>
                </a:solidFill>
              </a:rPr>
              <a:t>SmartDairy Dataset v2  |  2021–2025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E45"/>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4" name="Shape 2"/>
          <p:cNvSpPr/>
          <p:nvPr/>
        </p:nvSpPr>
        <p:spPr>
          <a:xfrm>
            <a:off x="274320" y="1188720"/>
            <a:ext cx="2743200" cy="3474720"/>
          </a:xfrm>
          <a:prstGeom prst="rect">
            <a:avLst/>
          </a:prstGeom>
          <a:solidFill>
            <a:srgbClr val="162537"/>
          </a:solidFill>
          <a:ln w="19050">
            <a:solidFill>
              <a:srgbClr val="00B4D8"/>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274320" y="1188720"/>
            <a:ext cx="2743200" cy="73152"/>
          </a:xfrm>
          <a:prstGeom prst="rect">
            <a:avLst/>
          </a:prstGeom>
          <a:solidFill>
            <a:srgbClr val="00B4D8"/>
          </a:solidFill>
          <a:ln w="12700">
            <a:solidFill>
              <a:srgbClr val="00B4D8"/>
            </a:solidFill>
            <a:prstDash val="solid"/>
          </a:ln>
        </p:spPr>
      </p:sp>
      <p:sp>
        <p:nvSpPr>
          <p:cNvPr id="6" name="Text 4"/>
          <p:cNvSpPr/>
          <p:nvPr/>
        </p:nvSpPr>
        <p:spPr>
          <a:xfrm>
            <a:off x="411480" y="1417320"/>
            <a:ext cx="2468880" cy="50292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  Problem Statement</a:t>
            </a:r>
            <a:endParaRPr lang="en-US" sz="1300" dirty="0"/>
          </a:p>
        </p:txBody>
      </p:sp>
      <p:sp>
        <p:nvSpPr>
          <p:cNvPr id="7" name="Text 5"/>
          <p:cNvSpPr/>
          <p:nvPr/>
        </p:nvSpPr>
        <p:spPr>
          <a:xfrm>
            <a:off x="411480" y="1965960"/>
            <a:ext cx="2468880" cy="2514600"/>
          </a:xfrm>
          <a:prstGeom prst="rect">
            <a:avLst/>
          </a:prstGeom>
          <a:noFill/>
          <a:ln/>
        </p:spPr>
        <p:txBody>
          <a:bodyPr wrap="square" rtlCol="0" anchor="t"/>
          <a:lstStyle/>
          <a:p>
            <a:pPr indent="0" marL="0">
              <a:buNone/>
            </a:pPr>
            <a:r>
              <a:rPr lang="en-US" sz="1150" dirty="0">
                <a:solidFill>
                  <a:srgbClr val="E8F4FD"/>
                </a:solidFill>
                <a:latin typeface="Calibri" pitchFamily="34" charset="0"/>
                <a:ea typeface="Calibri" pitchFamily="34" charset="-122"/>
                <a:cs typeface="Calibri" pitchFamily="34" charset="-120"/>
              </a:rPr>
              <a:t>Dairy businesses face unpredictable demand leading to wastage, stockouts &amp; revenue loss. Traditional methods fail to capture seasonal &amp; festival patterns.</a:t>
            </a:r>
            <a:endParaRPr lang="en-US" sz="1150" dirty="0"/>
          </a:p>
        </p:txBody>
      </p:sp>
      <p:sp>
        <p:nvSpPr>
          <p:cNvPr id="8" name="Shape 6"/>
          <p:cNvSpPr/>
          <p:nvPr/>
        </p:nvSpPr>
        <p:spPr>
          <a:xfrm>
            <a:off x="3246120" y="1188720"/>
            <a:ext cx="2743200" cy="3474720"/>
          </a:xfrm>
          <a:prstGeom prst="rect">
            <a:avLst/>
          </a:prstGeom>
          <a:solidFill>
            <a:srgbClr val="162537"/>
          </a:solidFill>
          <a:ln w="19050">
            <a:solidFill>
              <a:srgbClr val="00B4D8"/>
            </a:solidFill>
            <a:prstDash val="solid"/>
          </a:ln>
          <a:effectLst>
            <a:outerShdw sx="100000" sy="100000" kx="0" ky="0" algn="bl" rotWithShape="0" blurRad="101600" dist="38100" dir="8100000">
              <a:srgbClr val="000000">
                <a:alpha val="25000"/>
              </a:srgbClr>
            </a:outerShdw>
          </a:effectLst>
        </p:spPr>
      </p:sp>
      <p:sp>
        <p:nvSpPr>
          <p:cNvPr id="9" name="Shape 7"/>
          <p:cNvSpPr/>
          <p:nvPr/>
        </p:nvSpPr>
        <p:spPr>
          <a:xfrm>
            <a:off x="3246120" y="1188720"/>
            <a:ext cx="2743200" cy="73152"/>
          </a:xfrm>
          <a:prstGeom prst="rect">
            <a:avLst/>
          </a:prstGeom>
          <a:solidFill>
            <a:srgbClr val="00B4D8"/>
          </a:solidFill>
          <a:ln w="12700">
            <a:solidFill>
              <a:srgbClr val="00B4D8"/>
            </a:solidFill>
            <a:prstDash val="solid"/>
          </a:ln>
        </p:spPr>
      </p:sp>
      <p:sp>
        <p:nvSpPr>
          <p:cNvPr id="10" name="Text 8"/>
          <p:cNvSpPr/>
          <p:nvPr/>
        </p:nvSpPr>
        <p:spPr>
          <a:xfrm>
            <a:off x="3383280" y="1417320"/>
            <a:ext cx="2468880" cy="50292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  Our Solution</a:t>
            </a:r>
            <a:endParaRPr lang="en-US" sz="1300" dirty="0"/>
          </a:p>
        </p:txBody>
      </p:sp>
      <p:sp>
        <p:nvSpPr>
          <p:cNvPr id="11" name="Text 9"/>
          <p:cNvSpPr/>
          <p:nvPr/>
        </p:nvSpPr>
        <p:spPr>
          <a:xfrm>
            <a:off x="3383280" y="1965960"/>
            <a:ext cx="2468880" cy="2514600"/>
          </a:xfrm>
          <a:prstGeom prst="rect">
            <a:avLst/>
          </a:prstGeom>
          <a:noFill/>
          <a:ln/>
        </p:spPr>
        <p:txBody>
          <a:bodyPr wrap="square" rtlCol="0" anchor="t"/>
          <a:lstStyle/>
          <a:p>
            <a:pPr indent="0" marL="0">
              <a:buNone/>
            </a:pPr>
            <a:r>
              <a:rPr lang="en-US" sz="1150" dirty="0">
                <a:solidFill>
                  <a:srgbClr val="E8F4FD"/>
                </a:solidFill>
                <a:latin typeface="Calibri" pitchFamily="34" charset="0"/>
                <a:ea typeface="Calibri" pitchFamily="34" charset="-122"/>
                <a:cs typeface="Calibri" pitchFamily="34" charset="-120"/>
              </a:rPr>
              <a:t>An AI-powered dashboard using ARIMA, SARIMA &amp; Prophet models to forecast demand per product, region &amp; time period with interactive visualizations.</a:t>
            </a:r>
            <a:endParaRPr lang="en-US" sz="1150" dirty="0"/>
          </a:p>
        </p:txBody>
      </p:sp>
      <p:sp>
        <p:nvSpPr>
          <p:cNvPr id="12" name="Shape 10"/>
          <p:cNvSpPr/>
          <p:nvPr/>
        </p:nvSpPr>
        <p:spPr>
          <a:xfrm>
            <a:off x="6217920" y="1188720"/>
            <a:ext cx="2743200" cy="3474720"/>
          </a:xfrm>
          <a:prstGeom prst="rect">
            <a:avLst/>
          </a:prstGeom>
          <a:solidFill>
            <a:srgbClr val="162537"/>
          </a:solidFill>
          <a:ln w="19050">
            <a:solidFill>
              <a:srgbClr val="00B4D8"/>
            </a:solidFill>
            <a:prstDash val="solid"/>
          </a:ln>
          <a:effectLst>
            <a:outerShdw sx="100000" sy="100000" kx="0" ky="0" algn="bl" rotWithShape="0" blurRad="101600" dist="38100" dir="8100000">
              <a:srgbClr val="000000">
                <a:alpha val="25000"/>
              </a:srgbClr>
            </a:outerShdw>
          </a:effectLst>
        </p:spPr>
      </p:sp>
      <p:sp>
        <p:nvSpPr>
          <p:cNvPr id="13" name="Shape 11"/>
          <p:cNvSpPr/>
          <p:nvPr/>
        </p:nvSpPr>
        <p:spPr>
          <a:xfrm>
            <a:off x="6217920" y="1188720"/>
            <a:ext cx="2743200" cy="73152"/>
          </a:xfrm>
          <a:prstGeom prst="rect">
            <a:avLst/>
          </a:prstGeom>
          <a:solidFill>
            <a:srgbClr val="00B4D8"/>
          </a:solidFill>
          <a:ln w="12700">
            <a:solidFill>
              <a:srgbClr val="00B4D8"/>
            </a:solidFill>
            <a:prstDash val="solid"/>
          </a:ln>
        </p:spPr>
      </p:sp>
      <p:sp>
        <p:nvSpPr>
          <p:cNvPr id="14" name="Text 12"/>
          <p:cNvSpPr/>
          <p:nvPr/>
        </p:nvSpPr>
        <p:spPr>
          <a:xfrm>
            <a:off x="6355080" y="1417320"/>
            <a:ext cx="2468880" cy="50292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  Key Objective</a:t>
            </a:r>
            <a:endParaRPr lang="en-US" sz="1300" dirty="0"/>
          </a:p>
        </p:txBody>
      </p:sp>
      <p:sp>
        <p:nvSpPr>
          <p:cNvPr id="15" name="Text 13"/>
          <p:cNvSpPr/>
          <p:nvPr/>
        </p:nvSpPr>
        <p:spPr>
          <a:xfrm>
            <a:off x="6355080" y="1965960"/>
            <a:ext cx="2468880" cy="2514600"/>
          </a:xfrm>
          <a:prstGeom prst="rect">
            <a:avLst/>
          </a:prstGeom>
          <a:noFill/>
          <a:ln/>
        </p:spPr>
        <p:txBody>
          <a:bodyPr wrap="square" rtlCol="0" anchor="t"/>
          <a:lstStyle/>
          <a:p>
            <a:pPr indent="0" marL="0">
              <a:buNone/>
            </a:pPr>
            <a:r>
              <a:rPr lang="en-US" sz="1150" dirty="0">
                <a:solidFill>
                  <a:srgbClr val="E8F4FD"/>
                </a:solidFill>
                <a:latin typeface="Calibri" pitchFamily="34" charset="0"/>
                <a:ea typeface="Calibri" pitchFamily="34" charset="-122"/>
                <a:cs typeface="Calibri" pitchFamily="34" charset="-120"/>
              </a:rPr>
              <a:t>Enable data-driven procurement decisions, reduce waste by 20–30%, and align inventory with actual market demand across all dairy categories.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E45"/>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rPr>
              <a:t>Dataset &amp; Technology Stack</a:t>
            </a:r>
            <a:endParaRPr lang="en-US" sz="2600" dirty="0"/>
          </a:p>
        </p:txBody>
      </p:sp>
      <p:sp>
        <p:nvSpPr>
          <p:cNvPr id="4" name="Shape 2"/>
          <p:cNvSpPr/>
          <p:nvPr/>
        </p:nvSpPr>
        <p:spPr>
          <a:xfrm>
            <a:off x="274320" y="1097280"/>
            <a:ext cx="4114800" cy="3657600"/>
          </a:xfrm>
          <a:prstGeom prst="rect">
            <a:avLst/>
          </a:prstGeom>
          <a:solidFill>
            <a:srgbClr val="162537"/>
          </a:solidFill>
          <a:ln w="19050">
            <a:solidFill>
              <a:srgbClr val="00B4D8"/>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457200" y="1234440"/>
            <a:ext cx="3749040" cy="411480"/>
          </a:xfrm>
          <a:prstGeom prst="rect">
            <a:avLst/>
          </a:prstGeom>
          <a:noFill/>
          <a:ln/>
        </p:spPr>
        <p:txBody>
          <a:bodyPr wrap="square" rtlCol="0" anchor="ctr"/>
          <a:lstStyle/>
          <a:p>
            <a:pPr indent="0" marL="0">
              <a:buNone/>
            </a:pPr>
            <a:r>
              <a:rPr lang="en-US" sz="1400" b="1" dirty="0">
                <a:solidFill>
                  <a:srgbClr val="00B4D8"/>
                </a:solidFill>
              </a:rPr>
              <a:t>📊  Dataset Highlights</a:t>
            </a:r>
            <a:endParaRPr lang="en-US" sz="1400" dirty="0"/>
          </a:p>
        </p:txBody>
      </p:sp>
      <p:sp>
        <p:nvSpPr>
          <p:cNvPr id="6" name="Text 4"/>
          <p:cNvSpPr/>
          <p:nvPr/>
        </p:nvSpPr>
        <p:spPr>
          <a:xfrm>
            <a:off x="457200" y="1737360"/>
            <a:ext cx="1645920" cy="384048"/>
          </a:xfrm>
          <a:prstGeom prst="rect">
            <a:avLst/>
          </a:prstGeom>
          <a:noFill/>
          <a:ln/>
        </p:spPr>
        <p:txBody>
          <a:bodyPr wrap="square" rtlCol="0" anchor="ctr"/>
          <a:lstStyle/>
          <a:p>
            <a:pPr indent="0" marL="0">
              <a:buNone/>
            </a:pPr>
            <a:r>
              <a:rPr lang="en-US" sz="1050" b="1" dirty="0">
                <a:solidFill>
                  <a:srgbClr val="8DA9C4"/>
                </a:solidFill>
              </a:rPr>
              <a:t>Total Records:</a:t>
            </a:r>
            <a:endParaRPr lang="en-US" sz="1050" dirty="0"/>
          </a:p>
        </p:txBody>
      </p:sp>
      <p:sp>
        <p:nvSpPr>
          <p:cNvPr id="7" name="Text 5"/>
          <p:cNvSpPr/>
          <p:nvPr/>
        </p:nvSpPr>
        <p:spPr>
          <a:xfrm>
            <a:off x="2148840" y="1737360"/>
            <a:ext cx="2103120" cy="384048"/>
          </a:xfrm>
          <a:prstGeom prst="rect">
            <a:avLst/>
          </a:prstGeom>
          <a:noFill/>
          <a:ln/>
        </p:spPr>
        <p:txBody>
          <a:bodyPr wrap="square" rtlCol="0" anchor="ctr"/>
          <a:lstStyle/>
          <a:p>
            <a:pPr indent="0" marL="0">
              <a:buNone/>
            </a:pPr>
            <a:r>
              <a:rPr lang="en-US" sz="1050" dirty="0">
                <a:solidFill>
                  <a:srgbClr val="E8F4FD"/>
                </a:solidFill>
              </a:rPr>
              <a:t>36,520 rows</a:t>
            </a:r>
            <a:endParaRPr lang="en-US" sz="1050" dirty="0"/>
          </a:p>
        </p:txBody>
      </p:sp>
      <p:sp>
        <p:nvSpPr>
          <p:cNvPr id="8" name="Text 6"/>
          <p:cNvSpPr/>
          <p:nvPr/>
        </p:nvSpPr>
        <p:spPr>
          <a:xfrm>
            <a:off x="457200" y="2221992"/>
            <a:ext cx="1645920" cy="384048"/>
          </a:xfrm>
          <a:prstGeom prst="rect">
            <a:avLst/>
          </a:prstGeom>
          <a:noFill/>
          <a:ln/>
        </p:spPr>
        <p:txBody>
          <a:bodyPr wrap="square" rtlCol="0" anchor="ctr"/>
          <a:lstStyle/>
          <a:p>
            <a:pPr indent="0" marL="0">
              <a:buNone/>
            </a:pPr>
            <a:r>
              <a:rPr lang="en-US" sz="1050" b="1" dirty="0">
                <a:solidFill>
                  <a:srgbClr val="8DA9C4"/>
                </a:solidFill>
              </a:rPr>
              <a:t>Date Range:</a:t>
            </a:r>
            <a:endParaRPr lang="en-US" sz="1050" dirty="0"/>
          </a:p>
        </p:txBody>
      </p:sp>
      <p:sp>
        <p:nvSpPr>
          <p:cNvPr id="9" name="Text 7"/>
          <p:cNvSpPr/>
          <p:nvPr/>
        </p:nvSpPr>
        <p:spPr>
          <a:xfrm>
            <a:off x="2148840" y="2221992"/>
            <a:ext cx="2103120" cy="384048"/>
          </a:xfrm>
          <a:prstGeom prst="rect">
            <a:avLst/>
          </a:prstGeom>
          <a:noFill/>
          <a:ln/>
        </p:spPr>
        <p:txBody>
          <a:bodyPr wrap="square" rtlCol="0" anchor="ctr"/>
          <a:lstStyle/>
          <a:p>
            <a:pPr indent="0" marL="0">
              <a:buNone/>
            </a:pPr>
            <a:r>
              <a:rPr lang="en-US" sz="1050" dirty="0">
                <a:solidFill>
                  <a:srgbClr val="E8F4FD"/>
                </a:solidFill>
              </a:rPr>
              <a:t>2021 – 2025 (5 Years)</a:t>
            </a:r>
            <a:endParaRPr lang="en-US" sz="1050" dirty="0"/>
          </a:p>
        </p:txBody>
      </p:sp>
      <p:sp>
        <p:nvSpPr>
          <p:cNvPr id="10" name="Text 8"/>
          <p:cNvSpPr/>
          <p:nvPr/>
        </p:nvSpPr>
        <p:spPr>
          <a:xfrm>
            <a:off x="457200" y="2706624"/>
            <a:ext cx="1645920" cy="384048"/>
          </a:xfrm>
          <a:prstGeom prst="rect">
            <a:avLst/>
          </a:prstGeom>
          <a:noFill/>
          <a:ln/>
        </p:spPr>
        <p:txBody>
          <a:bodyPr wrap="square" rtlCol="0" anchor="ctr"/>
          <a:lstStyle/>
          <a:p>
            <a:pPr indent="0" marL="0">
              <a:buNone/>
            </a:pPr>
            <a:r>
              <a:rPr lang="en-US" sz="1050" b="1" dirty="0">
                <a:solidFill>
                  <a:srgbClr val="8DA9C4"/>
                </a:solidFill>
              </a:rPr>
              <a:t>Products:</a:t>
            </a:r>
            <a:endParaRPr lang="en-US" sz="1050" dirty="0"/>
          </a:p>
        </p:txBody>
      </p:sp>
      <p:sp>
        <p:nvSpPr>
          <p:cNvPr id="11" name="Text 9"/>
          <p:cNvSpPr/>
          <p:nvPr/>
        </p:nvSpPr>
        <p:spPr>
          <a:xfrm>
            <a:off x="2148840" y="2706624"/>
            <a:ext cx="2103120" cy="384048"/>
          </a:xfrm>
          <a:prstGeom prst="rect">
            <a:avLst/>
          </a:prstGeom>
          <a:noFill/>
          <a:ln/>
        </p:spPr>
        <p:txBody>
          <a:bodyPr wrap="square" rtlCol="0" anchor="ctr"/>
          <a:lstStyle/>
          <a:p>
            <a:pPr indent="0" marL="0">
              <a:buNone/>
            </a:pPr>
            <a:r>
              <a:rPr lang="en-US" sz="1050" dirty="0">
                <a:solidFill>
                  <a:srgbClr val="E8F4FD"/>
                </a:solidFill>
              </a:rPr>
              <a:t>Milk, Curd, Butter, Paneer, Cheese</a:t>
            </a:r>
            <a:endParaRPr lang="en-US" sz="1050" dirty="0"/>
          </a:p>
        </p:txBody>
      </p:sp>
      <p:sp>
        <p:nvSpPr>
          <p:cNvPr id="12" name="Text 10"/>
          <p:cNvSpPr/>
          <p:nvPr/>
        </p:nvSpPr>
        <p:spPr>
          <a:xfrm>
            <a:off x="457200" y="3191256"/>
            <a:ext cx="1645920" cy="384048"/>
          </a:xfrm>
          <a:prstGeom prst="rect">
            <a:avLst/>
          </a:prstGeom>
          <a:noFill/>
          <a:ln/>
        </p:spPr>
        <p:txBody>
          <a:bodyPr wrap="square" rtlCol="0" anchor="ctr"/>
          <a:lstStyle/>
          <a:p>
            <a:pPr indent="0" marL="0">
              <a:buNone/>
            </a:pPr>
            <a:r>
              <a:rPr lang="en-US" sz="1050" b="1" dirty="0">
                <a:solidFill>
                  <a:srgbClr val="8DA9C4"/>
                </a:solidFill>
              </a:rPr>
              <a:t>Regions:</a:t>
            </a:r>
            <a:endParaRPr lang="en-US" sz="1050" dirty="0"/>
          </a:p>
        </p:txBody>
      </p:sp>
      <p:sp>
        <p:nvSpPr>
          <p:cNvPr id="13" name="Text 11"/>
          <p:cNvSpPr/>
          <p:nvPr/>
        </p:nvSpPr>
        <p:spPr>
          <a:xfrm>
            <a:off x="2148840" y="3191256"/>
            <a:ext cx="2103120" cy="384048"/>
          </a:xfrm>
          <a:prstGeom prst="rect">
            <a:avLst/>
          </a:prstGeom>
          <a:noFill/>
          <a:ln/>
        </p:spPr>
        <p:txBody>
          <a:bodyPr wrap="square" rtlCol="0" anchor="ctr"/>
          <a:lstStyle/>
          <a:p>
            <a:pPr indent="0" marL="0">
              <a:buNone/>
            </a:pPr>
            <a:r>
              <a:rPr lang="en-US" sz="1050" dirty="0">
                <a:solidFill>
                  <a:srgbClr val="E8F4FD"/>
                </a:solidFill>
              </a:rPr>
              <a:t>North, South, East, West</a:t>
            </a:r>
            <a:endParaRPr lang="en-US" sz="1050" dirty="0"/>
          </a:p>
        </p:txBody>
      </p:sp>
      <p:sp>
        <p:nvSpPr>
          <p:cNvPr id="14" name="Text 12"/>
          <p:cNvSpPr/>
          <p:nvPr/>
        </p:nvSpPr>
        <p:spPr>
          <a:xfrm>
            <a:off x="457200" y="3675888"/>
            <a:ext cx="1645920" cy="384048"/>
          </a:xfrm>
          <a:prstGeom prst="rect">
            <a:avLst/>
          </a:prstGeom>
          <a:noFill/>
          <a:ln/>
        </p:spPr>
        <p:txBody>
          <a:bodyPr wrap="square" rtlCol="0" anchor="ctr"/>
          <a:lstStyle/>
          <a:p>
            <a:pPr indent="0" marL="0">
              <a:buNone/>
            </a:pPr>
            <a:r>
              <a:rPr lang="en-US" sz="1050" b="1" dirty="0">
                <a:solidFill>
                  <a:srgbClr val="8DA9C4"/>
                </a:solidFill>
              </a:rPr>
              <a:t>Key Features:</a:t>
            </a:r>
            <a:endParaRPr lang="en-US" sz="1050" dirty="0"/>
          </a:p>
        </p:txBody>
      </p:sp>
      <p:sp>
        <p:nvSpPr>
          <p:cNvPr id="15" name="Text 13"/>
          <p:cNvSpPr/>
          <p:nvPr/>
        </p:nvSpPr>
        <p:spPr>
          <a:xfrm>
            <a:off x="2148840" y="3675888"/>
            <a:ext cx="2103120" cy="384048"/>
          </a:xfrm>
          <a:prstGeom prst="rect">
            <a:avLst/>
          </a:prstGeom>
          <a:noFill/>
          <a:ln/>
        </p:spPr>
        <p:txBody>
          <a:bodyPr wrap="square" rtlCol="0" anchor="ctr"/>
          <a:lstStyle/>
          <a:p>
            <a:pPr indent="0" marL="0">
              <a:buNone/>
            </a:pPr>
            <a:r>
              <a:rPr lang="en-US" sz="1050" dirty="0">
                <a:solidFill>
                  <a:srgbClr val="E8F4FD"/>
                </a:solidFill>
              </a:rPr>
              <a:t>Date, Product, Region, Qty Sold, Price, Temperature, Festival &amp; Holiday Flags</a:t>
            </a:r>
            <a:endParaRPr lang="en-US" sz="1050" dirty="0"/>
          </a:p>
        </p:txBody>
      </p:sp>
      <p:sp>
        <p:nvSpPr>
          <p:cNvPr id="16" name="Text 14"/>
          <p:cNvSpPr/>
          <p:nvPr/>
        </p:nvSpPr>
        <p:spPr>
          <a:xfrm>
            <a:off x="457200" y="4160520"/>
            <a:ext cx="1645920" cy="384048"/>
          </a:xfrm>
          <a:prstGeom prst="rect">
            <a:avLst/>
          </a:prstGeom>
          <a:noFill/>
          <a:ln/>
        </p:spPr>
        <p:txBody>
          <a:bodyPr wrap="square" rtlCol="0" anchor="ctr"/>
          <a:lstStyle/>
          <a:p>
            <a:pPr indent="0" marL="0">
              <a:buNone/>
            </a:pPr>
            <a:r>
              <a:rPr lang="en-US" sz="1050" b="1" dirty="0">
                <a:solidFill>
                  <a:srgbClr val="8DA9C4"/>
                </a:solidFill>
              </a:rPr>
              <a:t>Total Qty Sold:</a:t>
            </a:r>
            <a:endParaRPr lang="en-US" sz="1050" dirty="0"/>
          </a:p>
        </p:txBody>
      </p:sp>
      <p:sp>
        <p:nvSpPr>
          <p:cNvPr id="17" name="Text 15"/>
          <p:cNvSpPr/>
          <p:nvPr/>
        </p:nvSpPr>
        <p:spPr>
          <a:xfrm>
            <a:off x="2148840" y="4160520"/>
            <a:ext cx="2103120" cy="384048"/>
          </a:xfrm>
          <a:prstGeom prst="rect">
            <a:avLst/>
          </a:prstGeom>
          <a:noFill/>
          <a:ln/>
        </p:spPr>
        <p:txBody>
          <a:bodyPr wrap="square" rtlCol="0" anchor="ctr"/>
          <a:lstStyle/>
          <a:p>
            <a:pPr indent="0" marL="0">
              <a:buNone/>
            </a:pPr>
            <a:r>
              <a:rPr lang="en-US" sz="1050" dirty="0">
                <a:solidFill>
                  <a:srgbClr val="E8F4FD"/>
                </a:solidFill>
              </a:rPr>
              <a:t>9,019,620 units</a:t>
            </a:r>
            <a:endParaRPr lang="en-US" sz="1050" dirty="0"/>
          </a:p>
        </p:txBody>
      </p:sp>
      <p:sp>
        <p:nvSpPr>
          <p:cNvPr id="18" name="Shape 16"/>
          <p:cNvSpPr/>
          <p:nvPr/>
        </p:nvSpPr>
        <p:spPr>
          <a:xfrm>
            <a:off x="4663440" y="1097280"/>
            <a:ext cx="4206240" cy="3657600"/>
          </a:xfrm>
          <a:prstGeom prst="rect">
            <a:avLst/>
          </a:prstGeom>
          <a:solidFill>
            <a:srgbClr val="162537"/>
          </a:solidFill>
          <a:ln w="19050">
            <a:solidFill>
              <a:srgbClr val="06D6A0"/>
            </a:solidFill>
            <a:prstDash val="solid"/>
          </a:ln>
          <a:effectLst>
            <a:outerShdw sx="100000" sy="100000" kx="0" ky="0" algn="bl" rotWithShape="0" blurRad="101600" dist="38100" dir="8100000">
              <a:srgbClr val="000000">
                <a:alpha val="25000"/>
              </a:srgbClr>
            </a:outerShdw>
          </a:effectLst>
        </p:spPr>
      </p:sp>
      <p:sp>
        <p:nvSpPr>
          <p:cNvPr id="19" name="Text 17"/>
          <p:cNvSpPr/>
          <p:nvPr/>
        </p:nvSpPr>
        <p:spPr>
          <a:xfrm>
            <a:off x="4846320" y="1234440"/>
            <a:ext cx="3840480" cy="411480"/>
          </a:xfrm>
          <a:prstGeom prst="rect">
            <a:avLst/>
          </a:prstGeom>
          <a:noFill/>
          <a:ln/>
        </p:spPr>
        <p:txBody>
          <a:bodyPr wrap="square" rtlCol="0" anchor="ctr"/>
          <a:lstStyle/>
          <a:p>
            <a:pPr indent="0" marL="0">
              <a:buNone/>
            </a:pPr>
            <a:r>
              <a:rPr lang="en-US" sz="1400" b="1" dirty="0">
                <a:solidFill>
                  <a:srgbClr val="06D6A0"/>
                </a:solidFill>
              </a:rPr>
              <a:t>🛠  Technology Stack</a:t>
            </a:r>
            <a:endParaRPr lang="en-US" sz="1400" dirty="0"/>
          </a:p>
        </p:txBody>
      </p:sp>
      <p:sp>
        <p:nvSpPr>
          <p:cNvPr id="20" name="Shape 18"/>
          <p:cNvSpPr/>
          <p:nvPr/>
        </p:nvSpPr>
        <p:spPr>
          <a:xfrm>
            <a:off x="4800600" y="1737360"/>
            <a:ext cx="1097280" cy="347472"/>
          </a:xfrm>
          <a:prstGeom prst="roundRect">
            <a:avLst>
              <a:gd name="adj" fmla="val 21053"/>
            </a:avLst>
          </a:prstGeom>
          <a:solidFill>
            <a:srgbClr val="023E8A"/>
          </a:solidFill>
          <a:ln w="12700">
            <a:solidFill>
              <a:srgbClr val="00B4D8"/>
            </a:solidFill>
            <a:prstDash val="solid"/>
          </a:ln>
        </p:spPr>
      </p:sp>
      <p:sp>
        <p:nvSpPr>
          <p:cNvPr id="21" name="Text 19"/>
          <p:cNvSpPr/>
          <p:nvPr/>
        </p:nvSpPr>
        <p:spPr>
          <a:xfrm>
            <a:off x="4800600" y="1737360"/>
            <a:ext cx="1097280" cy="347472"/>
          </a:xfrm>
          <a:prstGeom prst="rect">
            <a:avLst/>
          </a:prstGeom>
          <a:noFill/>
          <a:ln/>
        </p:spPr>
        <p:txBody>
          <a:bodyPr wrap="square" lIns="0" tIns="0" rIns="0" bIns="0" rtlCol="0" anchor="ctr"/>
          <a:lstStyle/>
          <a:p>
            <a:pPr algn="ctr" indent="0" marL="0">
              <a:buNone/>
            </a:pPr>
            <a:r>
              <a:rPr lang="en-US" sz="950" b="1" dirty="0">
                <a:solidFill>
                  <a:srgbClr val="00B4D8"/>
                </a:solidFill>
              </a:rPr>
              <a:t>Frontend</a:t>
            </a:r>
            <a:endParaRPr lang="en-US" sz="950" dirty="0"/>
          </a:p>
        </p:txBody>
      </p:sp>
      <p:sp>
        <p:nvSpPr>
          <p:cNvPr id="22" name="Text 20"/>
          <p:cNvSpPr/>
          <p:nvPr/>
        </p:nvSpPr>
        <p:spPr>
          <a:xfrm>
            <a:off x="6035040" y="1737360"/>
            <a:ext cx="2651760" cy="347472"/>
          </a:xfrm>
          <a:prstGeom prst="rect">
            <a:avLst/>
          </a:prstGeom>
          <a:noFill/>
          <a:ln/>
        </p:spPr>
        <p:txBody>
          <a:bodyPr wrap="square" rtlCol="0" anchor="ctr"/>
          <a:lstStyle/>
          <a:p>
            <a:pPr indent="0" marL="0">
              <a:buNone/>
            </a:pPr>
            <a:r>
              <a:rPr lang="en-US" sz="1050" dirty="0">
                <a:solidFill>
                  <a:srgbClr val="E8F4FD"/>
                </a:solidFill>
              </a:rPr>
              <a:t>Streamlit</a:t>
            </a:r>
            <a:endParaRPr lang="en-US" sz="1050" dirty="0"/>
          </a:p>
        </p:txBody>
      </p:sp>
      <p:sp>
        <p:nvSpPr>
          <p:cNvPr id="23" name="Shape 21"/>
          <p:cNvSpPr/>
          <p:nvPr/>
        </p:nvSpPr>
        <p:spPr>
          <a:xfrm>
            <a:off x="4800600" y="2221992"/>
            <a:ext cx="1097280" cy="347472"/>
          </a:xfrm>
          <a:prstGeom prst="roundRect">
            <a:avLst>
              <a:gd name="adj" fmla="val 21053"/>
            </a:avLst>
          </a:prstGeom>
          <a:solidFill>
            <a:srgbClr val="023E8A"/>
          </a:solidFill>
          <a:ln w="12700">
            <a:solidFill>
              <a:srgbClr val="00B4D8"/>
            </a:solidFill>
            <a:prstDash val="solid"/>
          </a:ln>
        </p:spPr>
      </p:sp>
      <p:sp>
        <p:nvSpPr>
          <p:cNvPr id="24" name="Text 22"/>
          <p:cNvSpPr/>
          <p:nvPr/>
        </p:nvSpPr>
        <p:spPr>
          <a:xfrm>
            <a:off x="4800600" y="2221992"/>
            <a:ext cx="1097280" cy="347472"/>
          </a:xfrm>
          <a:prstGeom prst="rect">
            <a:avLst/>
          </a:prstGeom>
          <a:noFill/>
          <a:ln/>
        </p:spPr>
        <p:txBody>
          <a:bodyPr wrap="square" lIns="0" tIns="0" rIns="0" bIns="0" rtlCol="0" anchor="ctr"/>
          <a:lstStyle/>
          <a:p>
            <a:pPr algn="ctr" indent="0" marL="0">
              <a:buNone/>
            </a:pPr>
            <a:r>
              <a:rPr lang="en-US" sz="950" b="1" dirty="0">
                <a:solidFill>
                  <a:srgbClr val="00B4D8"/>
                </a:solidFill>
              </a:rPr>
              <a:t>Data</a:t>
            </a:r>
            <a:endParaRPr lang="en-US" sz="950" dirty="0"/>
          </a:p>
        </p:txBody>
      </p:sp>
      <p:sp>
        <p:nvSpPr>
          <p:cNvPr id="25" name="Text 23"/>
          <p:cNvSpPr/>
          <p:nvPr/>
        </p:nvSpPr>
        <p:spPr>
          <a:xfrm>
            <a:off x="6035040" y="2221992"/>
            <a:ext cx="2651760" cy="347472"/>
          </a:xfrm>
          <a:prstGeom prst="rect">
            <a:avLst/>
          </a:prstGeom>
          <a:noFill/>
          <a:ln/>
        </p:spPr>
        <p:txBody>
          <a:bodyPr wrap="square" rtlCol="0" anchor="ctr"/>
          <a:lstStyle/>
          <a:p>
            <a:pPr indent="0" marL="0">
              <a:buNone/>
            </a:pPr>
            <a:r>
              <a:rPr lang="en-US" sz="1050" dirty="0">
                <a:solidFill>
                  <a:srgbClr val="E8F4FD"/>
                </a:solidFill>
              </a:rPr>
              <a:t>Pandas, NumPy</a:t>
            </a:r>
            <a:endParaRPr lang="en-US" sz="1050" dirty="0"/>
          </a:p>
        </p:txBody>
      </p:sp>
      <p:sp>
        <p:nvSpPr>
          <p:cNvPr id="26" name="Shape 24"/>
          <p:cNvSpPr/>
          <p:nvPr/>
        </p:nvSpPr>
        <p:spPr>
          <a:xfrm>
            <a:off x="4800600" y="2706624"/>
            <a:ext cx="1097280" cy="347472"/>
          </a:xfrm>
          <a:prstGeom prst="roundRect">
            <a:avLst>
              <a:gd name="adj" fmla="val 21053"/>
            </a:avLst>
          </a:prstGeom>
          <a:solidFill>
            <a:srgbClr val="023E8A"/>
          </a:solidFill>
          <a:ln w="12700">
            <a:solidFill>
              <a:srgbClr val="00B4D8"/>
            </a:solidFill>
            <a:prstDash val="solid"/>
          </a:ln>
        </p:spPr>
      </p:sp>
      <p:sp>
        <p:nvSpPr>
          <p:cNvPr id="27" name="Text 25"/>
          <p:cNvSpPr/>
          <p:nvPr/>
        </p:nvSpPr>
        <p:spPr>
          <a:xfrm>
            <a:off x="4800600" y="2706624"/>
            <a:ext cx="1097280" cy="347472"/>
          </a:xfrm>
          <a:prstGeom prst="rect">
            <a:avLst/>
          </a:prstGeom>
          <a:noFill/>
          <a:ln/>
        </p:spPr>
        <p:txBody>
          <a:bodyPr wrap="square" lIns="0" tIns="0" rIns="0" bIns="0" rtlCol="0" anchor="ctr"/>
          <a:lstStyle/>
          <a:p>
            <a:pPr algn="ctr" indent="0" marL="0">
              <a:buNone/>
            </a:pPr>
            <a:r>
              <a:rPr lang="en-US" sz="950" b="1" dirty="0">
                <a:solidFill>
                  <a:srgbClr val="00B4D8"/>
                </a:solidFill>
              </a:rPr>
              <a:t>Viz</a:t>
            </a:r>
            <a:endParaRPr lang="en-US" sz="950" dirty="0"/>
          </a:p>
        </p:txBody>
      </p:sp>
      <p:sp>
        <p:nvSpPr>
          <p:cNvPr id="28" name="Text 26"/>
          <p:cNvSpPr/>
          <p:nvPr/>
        </p:nvSpPr>
        <p:spPr>
          <a:xfrm>
            <a:off x="6035040" y="2706624"/>
            <a:ext cx="2651760" cy="347472"/>
          </a:xfrm>
          <a:prstGeom prst="rect">
            <a:avLst/>
          </a:prstGeom>
          <a:noFill/>
          <a:ln/>
        </p:spPr>
        <p:txBody>
          <a:bodyPr wrap="square" rtlCol="0" anchor="ctr"/>
          <a:lstStyle/>
          <a:p>
            <a:pPr indent="0" marL="0">
              <a:buNone/>
            </a:pPr>
            <a:r>
              <a:rPr lang="en-US" sz="1050" dirty="0">
                <a:solidFill>
                  <a:srgbClr val="E8F4FD"/>
                </a:solidFill>
              </a:rPr>
              <a:t>Matplotlib, Seaborn, Plotly</a:t>
            </a:r>
            <a:endParaRPr lang="en-US" sz="1050" dirty="0"/>
          </a:p>
        </p:txBody>
      </p:sp>
      <p:sp>
        <p:nvSpPr>
          <p:cNvPr id="29" name="Shape 27"/>
          <p:cNvSpPr/>
          <p:nvPr/>
        </p:nvSpPr>
        <p:spPr>
          <a:xfrm>
            <a:off x="4800600" y="3191256"/>
            <a:ext cx="1097280" cy="347472"/>
          </a:xfrm>
          <a:prstGeom prst="roundRect">
            <a:avLst>
              <a:gd name="adj" fmla="val 21053"/>
            </a:avLst>
          </a:prstGeom>
          <a:solidFill>
            <a:srgbClr val="023E8A"/>
          </a:solidFill>
          <a:ln w="12700">
            <a:solidFill>
              <a:srgbClr val="00B4D8"/>
            </a:solidFill>
            <a:prstDash val="solid"/>
          </a:ln>
        </p:spPr>
      </p:sp>
      <p:sp>
        <p:nvSpPr>
          <p:cNvPr id="30" name="Text 28"/>
          <p:cNvSpPr/>
          <p:nvPr/>
        </p:nvSpPr>
        <p:spPr>
          <a:xfrm>
            <a:off x="4800600" y="3191256"/>
            <a:ext cx="1097280" cy="347472"/>
          </a:xfrm>
          <a:prstGeom prst="rect">
            <a:avLst/>
          </a:prstGeom>
          <a:noFill/>
          <a:ln/>
        </p:spPr>
        <p:txBody>
          <a:bodyPr wrap="square" lIns="0" tIns="0" rIns="0" bIns="0" rtlCol="0" anchor="ctr"/>
          <a:lstStyle/>
          <a:p>
            <a:pPr algn="ctr" indent="0" marL="0">
              <a:buNone/>
            </a:pPr>
            <a:r>
              <a:rPr lang="en-US" sz="950" b="1" dirty="0">
                <a:solidFill>
                  <a:srgbClr val="00B4D8"/>
                </a:solidFill>
              </a:rPr>
              <a:t>Forecasting</a:t>
            </a:r>
            <a:endParaRPr lang="en-US" sz="950" dirty="0"/>
          </a:p>
        </p:txBody>
      </p:sp>
      <p:sp>
        <p:nvSpPr>
          <p:cNvPr id="31" name="Text 29"/>
          <p:cNvSpPr/>
          <p:nvPr/>
        </p:nvSpPr>
        <p:spPr>
          <a:xfrm>
            <a:off x="6035040" y="3191256"/>
            <a:ext cx="2651760" cy="347472"/>
          </a:xfrm>
          <a:prstGeom prst="rect">
            <a:avLst/>
          </a:prstGeom>
          <a:noFill/>
          <a:ln/>
        </p:spPr>
        <p:txBody>
          <a:bodyPr wrap="square" rtlCol="0" anchor="ctr"/>
          <a:lstStyle/>
          <a:p>
            <a:pPr indent="0" marL="0">
              <a:buNone/>
            </a:pPr>
            <a:r>
              <a:rPr lang="en-US" sz="1050" dirty="0">
                <a:solidFill>
                  <a:srgbClr val="E8F4FD"/>
                </a:solidFill>
              </a:rPr>
              <a:t>Prophet, ARIMA, SARIMA</a:t>
            </a:r>
            <a:endParaRPr lang="en-US" sz="1050" dirty="0"/>
          </a:p>
        </p:txBody>
      </p:sp>
      <p:sp>
        <p:nvSpPr>
          <p:cNvPr id="32" name="Shape 30"/>
          <p:cNvSpPr/>
          <p:nvPr/>
        </p:nvSpPr>
        <p:spPr>
          <a:xfrm>
            <a:off x="4800600" y="3675888"/>
            <a:ext cx="1097280" cy="347472"/>
          </a:xfrm>
          <a:prstGeom prst="roundRect">
            <a:avLst>
              <a:gd name="adj" fmla="val 21053"/>
            </a:avLst>
          </a:prstGeom>
          <a:solidFill>
            <a:srgbClr val="023E8A"/>
          </a:solidFill>
          <a:ln w="12700">
            <a:solidFill>
              <a:srgbClr val="00B4D8"/>
            </a:solidFill>
            <a:prstDash val="solid"/>
          </a:ln>
        </p:spPr>
      </p:sp>
      <p:sp>
        <p:nvSpPr>
          <p:cNvPr id="33" name="Text 31"/>
          <p:cNvSpPr/>
          <p:nvPr/>
        </p:nvSpPr>
        <p:spPr>
          <a:xfrm>
            <a:off x="4800600" y="3675888"/>
            <a:ext cx="1097280" cy="347472"/>
          </a:xfrm>
          <a:prstGeom prst="rect">
            <a:avLst/>
          </a:prstGeom>
          <a:noFill/>
          <a:ln/>
        </p:spPr>
        <p:txBody>
          <a:bodyPr wrap="square" lIns="0" tIns="0" rIns="0" bIns="0" rtlCol="0" anchor="ctr"/>
          <a:lstStyle/>
          <a:p>
            <a:pPr algn="ctr" indent="0" marL="0">
              <a:buNone/>
            </a:pPr>
            <a:r>
              <a:rPr lang="en-US" sz="950" b="1" dirty="0">
                <a:solidFill>
                  <a:srgbClr val="00B4D8"/>
                </a:solidFill>
              </a:rPr>
              <a:t>ML Metrics</a:t>
            </a:r>
            <a:endParaRPr lang="en-US" sz="950" dirty="0"/>
          </a:p>
        </p:txBody>
      </p:sp>
      <p:sp>
        <p:nvSpPr>
          <p:cNvPr id="34" name="Text 32"/>
          <p:cNvSpPr/>
          <p:nvPr/>
        </p:nvSpPr>
        <p:spPr>
          <a:xfrm>
            <a:off x="6035040" y="3675888"/>
            <a:ext cx="2651760" cy="347472"/>
          </a:xfrm>
          <a:prstGeom prst="rect">
            <a:avLst/>
          </a:prstGeom>
          <a:noFill/>
          <a:ln/>
        </p:spPr>
        <p:txBody>
          <a:bodyPr wrap="square" rtlCol="0" anchor="ctr"/>
          <a:lstStyle/>
          <a:p>
            <a:pPr indent="0" marL="0">
              <a:buNone/>
            </a:pPr>
            <a:r>
              <a:rPr lang="en-US" sz="1050" dirty="0">
                <a:solidFill>
                  <a:srgbClr val="E8F4FD"/>
                </a:solidFill>
              </a:rPr>
              <a:t>Scikit-learn (MAE, RMSE)</a:t>
            </a:r>
            <a:endParaRPr lang="en-US" sz="1050" dirty="0"/>
          </a:p>
        </p:txBody>
      </p:sp>
      <p:sp>
        <p:nvSpPr>
          <p:cNvPr id="35" name="Shape 33"/>
          <p:cNvSpPr/>
          <p:nvPr/>
        </p:nvSpPr>
        <p:spPr>
          <a:xfrm>
            <a:off x="4800600" y="4160520"/>
            <a:ext cx="1097280" cy="347472"/>
          </a:xfrm>
          <a:prstGeom prst="roundRect">
            <a:avLst>
              <a:gd name="adj" fmla="val 21053"/>
            </a:avLst>
          </a:prstGeom>
          <a:solidFill>
            <a:srgbClr val="023E8A"/>
          </a:solidFill>
          <a:ln w="12700">
            <a:solidFill>
              <a:srgbClr val="00B4D8"/>
            </a:solidFill>
            <a:prstDash val="solid"/>
          </a:ln>
        </p:spPr>
      </p:sp>
      <p:sp>
        <p:nvSpPr>
          <p:cNvPr id="36" name="Text 34"/>
          <p:cNvSpPr/>
          <p:nvPr/>
        </p:nvSpPr>
        <p:spPr>
          <a:xfrm>
            <a:off x="4800600" y="4160520"/>
            <a:ext cx="1097280" cy="347472"/>
          </a:xfrm>
          <a:prstGeom prst="rect">
            <a:avLst/>
          </a:prstGeom>
          <a:noFill/>
          <a:ln/>
        </p:spPr>
        <p:txBody>
          <a:bodyPr wrap="square" lIns="0" tIns="0" rIns="0" bIns="0" rtlCol="0" anchor="ctr"/>
          <a:lstStyle/>
          <a:p>
            <a:pPr algn="ctr" indent="0" marL="0">
              <a:buNone/>
            </a:pPr>
            <a:r>
              <a:rPr lang="en-US" sz="950" b="1" dirty="0">
                <a:solidFill>
                  <a:srgbClr val="00B4D8"/>
                </a:solidFill>
              </a:rPr>
              <a:t>Language</a:t>
            </a:r>
            <a:endParaRPr lang="en-US" sz="950" dirty="0"/>
          </a:p>
        </p:txBody>
      </p:sp>
      <p:sp>
        <p:nvSpPr>
          <p:cNvPr id="37" name="Text 35"/>
          <p:cNvSpPr/>
          <p:nvPr/>
        </p:nvSpPr>
        <p:spPr>
          <a:xfrm>
            <a:off x="6035040" y="4160520"/>
            <a:ext cx="2651760" cy="347472"/>
          </a:xfrm>
          <a:prstGeom prst="rect">
            <a:avLst/>
          </a:prstGeom>
          <a:noFill/>
          <a:ln/>
        </p:spPr>
        <p:txBody>
          <a:bodyPr wrap="square" rtlCol="0" anchor="ctr"/>
          <a:lstStyle/>
          <a:p>
            <a:pPr indent="0" marL="0">
              <a:buNone/>
            </a:pPr>
            <a:r>
              <a:rPr lang="en-US" sz="1050" dirty="0">
                <a:solidFill>
                  <a:srgbClr val="E8F4FD"/>
                </a:solidFill>
              </a:rPr>
              <a:t>Python 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E45"/>
          </a:solidFill>
          <a:ln w="12700">
            <a:solidFill>
              <a:srgbClr val="1A2E45"/>
            </a:solidFill>
            <a:prstDash val="solid"/>
          </a:ln>
        </p:spPr>
      </p:sp>
      <p:sp>
        <p:nvSpPr>
          <p:cNvPr id="3" name="Text 1"/>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rPr>
              <a:t>Key Performance Indicators</a:t>
            </a:r>
            <a:endParaRPr lang="en-US" sz="2600" dirty="0"/>
          </a:p>
        </p:txBody>
      </p:sp>
      <p:sp>
        <p:nvSpPr>
          <p:cNvPr id="4" name="Shape 2"/>
          <p:cNvSpPr/>
          <p:nvPr/>
        </p:nvSpPr>
        <p:spPr>
          <a:xfrm>
            <a:off x="228600" y="1097280"/>
            <a:ext cx="2011680" cy="3474720"/>
          </a:xfrm>
          <a:prstGeom prst="rect">
            <a:avLst/>
          </a:prstGeom>
          <a:solidFill>
            <a:srgbClr val="162537"/>
          </a:solidFill>
          <a:ln w="25400">
            <a:solidFill>
              <a:srgbClr val="00B4D8"/>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228600" y="1097280"/>
            <a:ext cx="2011680" cy="73152"/>
          </a:xfrm>
          <a:prstGeom prst="rect">
            <a:avLst/>
          </a:prstGeom>
          <a:solidFill>
            <a:srgbClr val="00B4D8"/>
          </a:solidFill>
          <a:ln w="12700">
            <a:solidFill>
              <a:srgbClr val="00B4D8"/>
            </a:solidFill>
            <a:prstDash val="solid"/>
          </a:ln>
        </p:spPr>
      </p:sp>
      <p:sp>
        <p:nvSpPr>
          <p:cNvPr id="6" name="Text 4"/>
          <p:cNvSpPr/>
          <p:nvPr/>
        </p:nvSpPr>
        <p:spPr>
          <a:xfrm>
            <a:off x="320040" y="1737360"/>
            <a:ext cx="1828800" cy="1188720"/>
          </a:xfrm>
          <a:prstGeom prst="rect">
            <a:avLst/>
          </a:prstGeom>
          <a:noFill/>
          <a:ln/>
        </p:spPr>
        <p:txBody>
          <a:bodyPr wrap="square" rtlCol="0" anchor="ctr"/>
          <a:lstStyle/>
          <a:p>
            <a:pPr algn="ctr" indent="0" marL="0">
              <a:buNone/>
            </a:pPr>
            <a:r>
              <a:rPr lang="en-US" sz="4400" b="1" dirty="0">
                <a:solidFill>
                  <a:srgbClr val="00B4D8"/>
                </a:solidFill>
                <a:latin typeface="Calibri" pitchFamily="34" charset="0"/>
                <a:ea typeface="Calibri" pitchFamily="34" charset="-122"/>
                <a:cs typeface="Calibri" pitchFamily="34" charset="-120"/>
              </a:rPr>
              <a:t>9.0M+</a:t>
            </a:r>
            <a:endParaRPr lang="en-US" sz="4400" dirty="0"/>
          </a:p>
        </p:txBody>
      </p:sp>
      <p:sp>
        <p:nvSpPr>
          <p:cNvPr id="7" name="Text 5"/>
          <p:cNvSpPr/>
          <p:nvPr/>
        </p:nvSpPr>
        <p:spPr>
          <a:xfrm>
            <a:off x="320040" y="2971800"/>
            <a:ext cx="1828800" cy="502920"/>
          </a:xfrm>
          <a:prstGeom prst="rect">
            <a:avLst/>
          </a:prstGeom>
          <a:noFill/>
          <a:ln/>
        </p:spPr>
        <p:txBody>
          <a:bodyPr wrap="square" rtlCol="0" anchor="ctr"/>
          <a:lstStyle/>
          <a:p>
            <a:pPr algn="ctr" indent="0" marL="0">
              <a:buNone/>
            </a:pPr>
            <a:r>
              <a:rPr lang="en-US" sz="1200" b="1" dirty="0">
                <a:solidFill>
                  <a:srgbClr val="FFFFFF"/>
                </a:solidFill>
              </a:rPr>
              <a:t>Total Units Sold</a:t>
            </a:r>
            <a:endParaRPr lang="en-US" sz="1200" dirty="0"/>
          </a:p>
        </p:txBody>
      </p:sp>
      <p:sp>
        <p:nvSpPr>
          <p:cNvPr id="8" name="Text 6"/>
          <p:cNvSpPr/>
          <p:nvPr/>
        </p:nvSpPr>
        <p:spPr>
          <a:xfrm>
            <a:off x="320040" y="3474720"/>
            <a:ext cx="1828800" cy="685800"/>
          </a:xfrm>
          <a:prstGeom prst="rect">
            <a:avLst/>
          </a:prstGeom>
          <a:noFill/>
          <a:ln/>
        </p:spPr>
        <p:txBody>
          <a:bodyPr wrap="square" rtlCol="0" anchor="ctr"/>
          <a:lstStyle/>
          <a:p>
            <a:pPr algn="ctr" indent="0" marL="0">
              <a:buNone/>
            </a:pPr>
            <a:r>
              <a:rPr lang="en-US" sz="950" dirty="0">
                <a:solidFill>
                  <a:srgbClr val="8DA9C4"/>
                </a:solidFill>
              </a:rPr>
              <a:t>Across all products &amp; regions</a:t>
            </a:r>
            <a:endParaRPr lang="en-US" sz="950" dirty="0"/>
          </a:p>
        </p:txBody>
      </p:sp>
      <p:sp>
        <p:nvSpPr>
          <p:cNvPr id="9" name="Shape 7"/>
          <p:cNvSpPr/>
          <p:nvPr/>
        </p:nvSpPr>
        <p:spPr>
          <a:xfrm>
            <a:off x="2423160" y="1097280"/>
            <a:ext cx="2011680" cy="3474720"/>
          </a:xfrm>
          <a:prstGeom prst="rect">
            <a:avLst/>
          </a:prstGeom>
          <a:solidFill>
            <a:srgbClr val="162537"/>
          </a:solidFill>
          <a:ln w="25400">
            <a:solidFill>
              <a:srgbClr val="06D6A0"/>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2423160" y="1097280"/>
            <a:ext cx="2011680" cy="73152"/>
          </a:xfrm>
          <a:prstGeom prst="rect">
            <a:avLst/>
          </a:prstGeom>
          <a:solidFill>
            <a:srgbClr val="06D6A0"/>
          </a:solidFill>
          <a:ln w="12700">
            <a:solidFill>
              <a:srgbClr val="06D6A0"/>
            </a:solidFill>
            <a:prstDash val="solid"/>
          </a:ln>
        </p:spPr>
      </p:sp>
      <p:sp>
        <p:nvSpPr>
          <p:cNvPr id="11" name="Text 9"/>
          <p:cNvSpPr/>
          <p:nvPr/>
        </p:nvSpPr>
        <p:spPr>
          <a:xfrm>
            <a:off x="2514600" y="1737360"/>
            <a:ext cx="1828800" cy="1188720"/>
          </a:xfrm>
          <a:prstGeom prst="rect">
            <a:avLst/>
          </a:prstGeom>
          <a:noFill/>
          <a:ln/>
        </p:spPr>
        <p:txBody>
          <a:bodyPr wrap="square" rtlCol="0" anchor="ctr"/>
          <a:lstStyle/>
          <a:p>
            <a:pPr algn="ctr" indent="0" marL="0">
              <a:buNone/>
            </a:pPr>
            <a:r>
              <a:rPr lang="en-US" sz="4400" b="1" dirty="0">
                <a:solidFill>
                  <a:srgbClr val="06D6A0"/>
                </a:solidFill>
                <a:latin typeface="Calibri" pitchFamily="34" charset="0"/>
                <a:ea typeface="Calibri" pitchFamily="34" charset="-122"/>
                <a:cs typeface="Calibri" pitchFamily="34" charset="-120"/>
              </a:rPr>
              <a:t>247</a:t>
            </a:r>
            <a:endParaRPr lang="en-US" sz="4400" dirty="0"/>
          </a:p>
        </p:txBody>
      </p:sp>
      <p:sp>
        <p:nvSpPr>
          <p:cNvPr id="12" name="Text 10"/>
          <p:cNvSpPr/>
          <p:nvPr/>
        </p:nvSpPr>
        <p:spPr>
          <a:xfrm>
            <a:off x="2514600" y="2971800"/>
            <a:ext cx="1828800" cy="502920"/>
          </a:xfrm>
          <a:prstGeom prst="rect">
            <a:avLst/>
          </a:prstGeom>
          <a:noFill/>
          <a:ln/>
        </p:spPr>
        <p:txBody>
          <a:bodyPr wrap="square" rtlCol="0" anchor="ctr"/>
          <a:lstStyle/>
          <a:p>
            <a:pPr algn="ctr" indent="0" marL="0">
              <a:buNone/>
            </a:pPr>
            <a:r>
              <a:rPr lang="en-US" sz="1200" b="1" dirty="0">
                <a:solidFill>
                  <a:srgbClr val="FFFFFF"/>
                </a:solidFill>
              </a:rPr>
              <a:t>Avg Daily Sales</a:t>
            </a:r>
            <a:endParaRPr lang="en-US" sz="1200" dirty="0"/>
          </a:p>
        </p:txBody>
      </p:sp>
      <p:sp>
        <p:nvSpPr>
          <p:cNvPr id="13" name="Text 11"/>
          <p:cNvSpPr/>
          <p:nvPr/>
        </p:nvSpPr>
        <p:spPr>
          <a:xfrm>
            <a:off x="2514600" y="3474720"/>
            <a:ext cx="1828800" cy="685800"/>
          </a:xfrm>
          <a:prstGeom prst="rect">
            <a:avLst/>
          </a:prstGeom>
          <a:noFill/>
          <a:ln/>
        </p:spPr>
        <p:txBody>
          <a:bodyPr wrap="square" rtlCol="0" anchor="ctr"/>
          <a:lstStyle/>
          <a:p>
            <a:pPr algn="ctr" indent="0" marL="0">
              <a:buNone/>
            </a:pPr>
            <a:r>
              <a:rPr lang="en-US" sz="950" dirty="0">
                <a:solidFill>
                  <a:srgbClr val="8DA9C4"/>
                </a:solidFill>
              </a:rPr>
              <a:t>Units per product-region-day</a:t>
            </a:r>
            <a:endParaRPr lang="en-US" sz="950" dirty="0"/>
          </a:p>
        </p:txBody>
      </p:sp>
      <p:sp>
        <p:nvSpPr>
          <p:cNvPr id="14" name="Shape 12"/>
          <p:cNvSpPr/>
          <p:nvPr/>
        </p:nvSpPr>
        <p:spPr>
          <a:xfrm>
            <a:off x="4617720" y="1097280"/>
            <a:ext cx="2011680" cy="3474720"/>
          </a:xfrm>
          <a:prstGeom prst="rect">
            <a:avLst/>
          </a:prstGeom>
          <a:solidFill>
            <a:srgbClr val="162537"/>
          </a:solidFill>
          <a:ln w="25400">
            <a:solidFill>
              <a:srgbClr val="FFD166"/>
            </a:solidFill>
            <a:prstDash val="solid"/>
          </a:ln>
          <a:effectLst>
            <a:outerShdw sx="100000" sy="100000" kx="0" ky="0" algn="bl" rotWithShape="0" blurRad="101600" dist="38100" dir="8100000">
              <a:srgbClr val="000000">
                <a:alpha val="25000"/>
              </a:srgbClr>
            </a:outerShdw>
          </a:effectLst>
        </p:spPr>
      </p:sp>
      <p:sp>
        <p:nvSpPr>
          <p:cNvPr id="15" name="Shape 13"/>
          <p:cNvSpPr/>
          <p:nvPr/>
        </p:nvSpPr>
        <p:spPr>
          <a:xfrm>
            <a:off x="4617720" y="1097280"/>
            <a:ext cx="2011680" cy="73152"/>
          </a:xfrm>
          <a:prstGeom prst="rect">
            <a:avLst/>
          </a:prstGeom>
          <a:solidFill>
            <a:srgbClr val="FFD166"/>
          </a:solidFill>
          <a:ln w="12700">
            <a:solidFill>
              <a:srgbClr val="FFD166"/>
            </a:solidFill>
            <a:prstDash val="solid"/>
          </a:ln>
        </p:spPr>
      </p:sp>
      <p:sp>
        <p:nvSpPr>
          <p:cNvPr id="16" name="Text 14"/>
          <p:cNvSpPr/>
          <p:nvPr/>
        </p:nvSpPr>
        <p:spPr>
          <a:xfrm>
            <a:off x="4709160" y="1737360"/>
            <a:ext cx="1828800" cy="1188720"/>
          </a:xfrm>
          <a:prstGeom prst="rect">
            <a:avLst/>
          </a:prstGeom>
          <a:noFill/>
          <a:ln/>
        </p:spPr>
        <p:txBody>
          <a:bodyPr wrap="square" rtlCol="0" anchor="ctr"/>
          <a:lstStyle/>
          <a:p>
            <a:pPr algn="ctr" indent="0" marL="0">
              <a:buNone/>
            </a:pPr>
            <a:r>
              <a:rPr lang="en-US" sz="4400" b="1" dirty="0">
                <a:solidFill>
                  <a:srgbClr val="FFD166"/>
                </a:solidFill>
                <a:latin typeface="Calibri" pitchFamily="34" charset="0"/>
                <a:ea typeface="Calibri" pitchFamily="34" charset="-122"/>
                <a:cs typeface="Calibri" pitchFamily="34" charset="-120"/>
              </a:rPr>
              <a:t>538</a:t>
            </a:r>
            <a:endParaRPr lang="en-US" sz="4400" dirty="0"/>
          </a:p>
        </p:txBody>
      </p:sp>
      <p:sp>
        <p:nvSpPr>
          <p:cNvPr id="17" name="Text 15"/>
          <p:cNvSpPr/>
          <p:nvPr/>
        </p:nvSpPr>
        <p:spPr>
          <a:xfrm>
            <a:off x="4709160" y="2971800"/>
            <a:ext cx="1828800" cy="502920"/>
          </a:xfrm>
          <a:prstGeom prst="rect">
            <a:avLst/>
          </a:prstGeom>
          <a:noFill/>
          <a:ln/>
        </p:spPr>
        <p:txBody>
          <a:bodyPr wrap="square" rtlCol="0" anchor="ctr"/>
          <a:lstStyle/>
          <a:p>
            <a:pPr algn="ctr" indent="0" marL="0">
              <a:buNone/>
            </a:pPr>
            <a:r>
              <a:rPr lang="en-US" sz="1200" b="1" dirty="0">
                <a:solidFill>
                  <a:srgbClr val="FFFFFF"/>
                </a:solidFill>
              </a:rPr>
              <a:t>Peak Sales Day</a:t>
            </a:r>
            <a:endParaRPr lang="en-US" sz="1200" dirty="0"/>
          </a:p>
        </p:txBody>
      </p:sp>
      <p:sp>
        <p:nvSpPr>
          <p:cNvPr id="18" name="Text 16"/>
          <p:cNvSpPr/>
          <p:nvPr/>
        </p:nvSpPr>
        <p:spPr>
          <a:xfrm>
            <a:off x="4709160" y="3474720"/>
            <a:ext cx="1828800" cy="685800"/>
          </a:xfrm>
          <a:prstGeom prst="rect">
            <a:avLst/>
          </a:prstGeom>
          <a:noFill/>
          <a:ln/>
        </p:spPr>
        <p:txBody>
          <a:bodyPr wrap="square" rtlCol="0" anchor="ctr"/>
          <a:lstStyle/>
          <a:p>
            <a:pPr algn="ctr" indent="0" marL="0">
              <a:buNone/>
            </a:pPr>
            <a:r>
              <a:rPr lang="en-US" sz="950" dirty="0">
                <a:solidFill>
                  <a:srgbClr val="8DA9C4"/>
                </a:solidFill>
              </a:rPr>
              <a:t>Maximum units in a single day</a:t>
            </a:r>
            <a:endParaRPr lang="en-US" sz="950" dirty="0"/>
          </a:p>
        </p:txBody>
      </p:sp>
      <p:sp>
        <p:nvSpPr>
          <p:cNvPr id="19" name="Shape 17"/>
          <p:cNvSpPr/>
          <p:nvPr/>
        </p:nvSpPr>
        <p:spPr>
          <a:xfrm>
            <a:off x="6812280" y="1097280"/>
            <a:ext cx="2011680" cy="3474720"/>
          </a:xfrm>
          <a:prstGeom prst="rect">
            <a:avLst/>
          </a:prstGeom>
          <a:solidFill>
            <a:srgbClr val="162537"/>
          </a:solidFill>
          <a:ln w="25400">
            <a:solidFill>
              <a:srgbClr val="FF6B6B"/>
            </a:solidFill>
            <a:prstDash val="solid"/>
          </a:ln>
          <a:effectLst>
            <a:outerShdw sx="100000" sy="100000" kx="0" ky="0" algn="bl" rotWithShape="0" blurRad="101600" dist="38100" dir="8100000">
              <a:srgbClr val="000000">
                <a:alpha val="25000"/>
              </a:srgbClr>
            </a:outerShdw>
          </a:effectLst>
        </p:spPr>
      </p:sp>
      <p:sp>
        <p:nvSpPr>
          <p:cNvPr id="20" name="Shape 18"/>
          <p:cNvSpPr/>
          <p:nvPr/>
        </p:nvSpPr>
        <p:spPr>
          <a:xfrm>
            <a:off x="6812280" y="1097280"/>
            <a:ext cx="2011680" cy="73152"/>
          </a:xfrm>
          <a:prstGeom prst="rect">
            <a:avLst/>
          </a:prstGeom>
          <a:solidFill>
            <a:srgbClr val="FF6B6B"/>
          </a:solidFill>
          <a:ln w="12700">
            <a:solidFill>
              <a:srgbClr val="FF6B6B"/>
            </a:solidFill>
            <a:prstDash val="solid"/>
          </a:ln>
        </p:spPr>
      </p:sp>
      <p:sp>
        <p:nvSpPr>
          <p:cNvPr id="21" name="Text 19"/>
          <p:cNvSpPr/>
          <p:nvPr/>
        </p:nvSpPr>
        <p:spPr>
          <a:xfrm>
            <a:off x="6903720" y="1737360"/>
            <a:ext cx="1828800" cy="1188720"/>
          </a:xfrm>
          <a:prstGeom prst="rect">
            <a:avLst/>
          </a:prstGeom>
          <a:noFill/>
          <a:ln/>
        </p:spPr>
        <p:txBody>
          <a:bodyPr wrap="square" rtlCol="0" anchor="ctr"/>
          <a:lstStyle/>
          <a:p>
            <a:pPr algn="ctr" indent="0" marL="0">
              <a:buNone/>
            </a:pPr>
            <a:r>
              <a:rPr lang="en-US" sz="4400" b="1" dirty="0">
                <a:solidFill>
                  <a:srgbClr val="FF6B6B"/>
                </a:solidFill>
                <a:latin typeface="Calibri" pitchFamily="34" charset="0"/>
                <a:ea typeface="Calibri" pitchFamily="34" charset="-122"/>
                <a:cs typeface="Calibri" pitchFamily="34" charset="-120"/>
              </a:rPr>
              <a:t>+41%</a:t>
            </a:r>
            <a:endParaRPr lang="en-US" sz="4400" dirty="0"/>
          </a:p>
        </p:txBody>
      </p:sp>
      <p:sp>
        <p:nvSpPr>
          <p:cNvPr id="22" name="Text 20"/>
          <p:cNvSpPr/>
          <p:nvPr/>
        </p:nvSpPr>
        <p:spPr>
          <a:xfrm>
            <a:off x="6903720" y="2971800"/>
            <a:ext cx="1828800" cy="502920"/>
          </a:xfrm>
          <a:prstGeom prst="rect">
            <a:avLst/>
          </a:prstGeom>
          <a:noFill/>
          <a:ln/>
        </p:spPr>
        <p:txBody>
          <a:bodyPr wrap="square" rtlCol="0" anchor="ctr"/>
          <a:lstStyle/>
          <a:p>
            <a:pPr algn="ctr" indent="0" marL="0">
              <a:buNone/>
            </a:pPr>
            <a:r>
              <a:rPr lang="en-US" sz="1200" b="1" dirty="0">
                <a:solidFill>
                  <a:srgbClr val="FFFFFF"/>
                </a:solidFill>
              </a:rPr>
              <a:t>Festival Sales Lift</a:t>
            </a:r>
            <a:endParaRPr lang="en-US" sz="1200" dirty="0"/>
          </a:p>
        </p:txBody>
      </p:sp>
      <p:sp>
        <p:nvSpPr>
          <p:cNvPr id="23" name="Text 21"/>
          <p:cNvSpPr/>
          <p:nvPr/>
        </p:nvSpPr>
        <p:spPr>
          <a:xfrm>
            <a:off x="6903720" y="3474720"/>
            <a:ext cx="1828800" cy="685800"/>
          </a:xfrm>
          <a:prstGeom prst="rect">
            <a:avLst/>
          </a:prstGeom>
          <a:noFill/>
          <a:ln/>
        </p:spPr>
        <p:txBody>
          <a:bodyPr wrap="square" rtlCol="0" anchor="ctr"/>
          <a:lstStyle/>
          <a:p>
            <a:pPr algn="ctr" indent="0" marL="0">
              <a:buNone/>
            </a:pPr>
            <a:r>
              <a:rPr lang="en-US" sz="950" dirty="0">
                <a:solidFill>
                  <a:srgbClr val="8DA9C4"/>
                </a:solidFill>
              </a:rPr>
              <a:t>Sales spike on festival days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5"/>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rPr>
              <a:t>Product-wise Total Sales</a:t>
            </a:r>
            <a:endParaRPr lang="en-US" sz="2600" dirty="0"/>
          </a:p>
        </p:txBody>
      </p:sp>
      <p:graphicFrame>
        <p:nvGraphicFramePr>
          <p:cNvPr id="4" name="Chart 0" descr=""/>
          <p:cNvGraphicFramePr/>
          <p:nvPr/>
        </p:nvGraphicFramePr>
        <p:xfrm>
          <a:off x="365760" y="1005840"/>
          <a:ext cx="530352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852160" y="1005840"/>
            <a:ext cx="3017520" cy="3840480"/>
          </a:xfrm>
          <a:prstGeom prst="rect">
            <a:avLst/>
          </a:prstGeom>
          <a:solidFill>
            <a:srgbClr val="162537"/>
          </a:solidFill>
          <a:ln w="19050">
            <a:solidFill>
              <a:srgbClr val="00B4D8"/>
            </a:solidFill>
            <a:prstDash val="solid"/>
          </a:ln>
          <a:effectLst>
            <a:outerShdw sx="100000" sy="100000" kx="0" ky="0" algn="bl" rotWithShape="0" blurRad="101600" dist="38100" dir="8100000">
              <a:srgbClr val="000000">
                <a:alpha val="25000"/>
              </a:srgbClr>
            </a:outerShdw>
          </a:effectLst>
        </p:spPr>
      </p:sp>
      <p:sp>
        <p:nvSpPr>
          <p:cNvPr id="6" name="Text 3"/>
          <p:cNvSpPr/>
          <p:nvPr/>
        </p:nvSpPr>
        <p:spPr>
          <a:xfrm>
            <a:off x="6035040" y="1188720"/>
            <a:ext cx="2651760" cy="411480"/>
          </a:xfrm>
          <a:prstGeom prst="rect">
            <a:avLst/>
          </a:prstGeom>
          <a:noFill/>
          <a:ln/>
        </p:spPr>
        <p:txBody>
          <a:bodyPr wrap="square" rtlCol="0" anchor="ctr"/>
          <a:lstStyle/>
          <a:p>
            <a:pPr indent="0" marL="0">
              <a:buNone/>
            </a:pPr>
            <a:r>
              <a:rPr lang="en-US" sz="1300" b="1" dirty="0">
                <a:solidFill>
                  <a:srgbClr val="00B4D8"/>
                </a:solidFill>
              </a:rPr>
              <a:t>📌  Key Insights</a:t>
            </a:r>
            <a:endParaRPr lang="en-US" sz="1300" dirty="0"/>
          </a:p>
        </p:txBody>
      </p:sp>
      <p:sp>
        <p:nvSpPr>
          <p:cNvPr id="7" name="Text 4"/>
          <p:cNvSpPr/>
          <p:nvPr/>
        </p:nvSpPr>
        <p:spPr>
          <a:xfrm>
            <a:off x="5989320" y="1691640"/>
            <a:ext cx="2743200" cy="2926080"/>
          </a:xfrm>
          <a:prstGeom prst="rect">
            <a:avLst/>
          </a:prstGeom>
          <a:noFill/>
          <a:ln/>
        </p:spPr>
        <p:txBody>
          <a:bodyPr wrap="square" rtlCol="0" anchor="ctr"/>
          <a:lstStyle/>
          <a:p>
            <a:pPr marL="342900" indent="-342900">
              <a:spcAft>
                <a:spcPts val="800"/>
              </a:spcAft>
              <a:buSzPct val="100000"/>
              <a:buChar char="•"/>
            </a:pPr>
            <a:r>
              <a:rPr lang="en-US" sz="1100" dirty="0">
                <a:solidFill>
                  <a:srgbClr val="E8F4FD"/>
                </a:solidFill>
                <a:latin typeface="Calibri" pitchFamily="34" charset="0"/>
                <a:ea typeface="Calibri" pitchFamily="34" charset="-122"/>
                <a:cs typeface="Calibri" pitchFamily="34" charset="-120"/>
              </a:rPr>
              <a:t>Curd leads with 1.86M units — highest demand dairy product</a:t>
            </a:r>
            <a:endParaRPr lang="en-US" sz="1100" dirty="0"/>
          </a:p>
          <a:p>
            <a:pPr marL="342900" indent="-342900">
              <a:spcAft>
                <a:spcPts val="800"/>
              </a:spcAft>
              <a:buSzPct val="100000"/>
              <a:buChar char="•"/>
            </a:pPr>
            <a:r>
              <a:rPr lang="en-US" sz="1100" dirty="0">
                <a:solidFill>
                  <a:srgbClr val="E8F4FD"/>
                </a:solidFill>
                <a:latin typeface="Calibri" pitchFamily="34" charset="0"/>
                <a:ea typeface="Calibri" pitchFamily="34" charset="-122"/>
                <a:cs typeface="Calibri" pitchFamily="34" charset="-120"/>
              </a:rPr>
              <a:t>Milk follows closely at 1.85M units</a:t>
            </a:r>
            <a:endParaRPr lang="en-US" sz="1100" dirty="0"/>
          </a:p>
          <a:p>
            <a:pPr marL="342900" indent="-342900">
              <a:spcAft>
                <a:spcPts val="800"/>
              </a:spcAft>
              <a:buSzPct val="100000"/>
              <a:buChar char="•"/>
            </a:pPr>
            <a:r>
              <a:rPr lang="en-US" sz="1100" dirty="0">
                <a:solidFill>
                  <a:srgbClr val="E8F4FD"/>
                </a:solidFill>
                <a:latin typeface="Calibri" pitchFamily="34" charset="0"/>
                <a:ea typeface="Calibri" pitchFamily="34" charset="-122"/>
                <a:cs typeface="Calibri" pitchFamily="34" charset="-120"/>
              </a:rPr>
              <a:t>All 5 products are within ~5% of each other — balanced portfolio</a:t>
            </a:r>
            <a:endParaRPr lang="en-US" sz="1100" dirty="0"/>
          </a:p>
          <a:p>
            <a:pPr marL="342900" indent="-342900">
              <a:spcAft>
                <a:spcPts val="800"/>
              </a:spcAft>
              <a:buSzPct val="100000"/>
              <a:buChar char="•"/>
            </a:pPr>
            <a:r>
              <a:rPr lang="en-US" sz="1100" dirty="0">
                <a:solidFill>
                  <a:srgbClr val="E8F4FD"/>
                </a:solidFill>
                <a:latin typeface="Calibri" pitchFamily="34" charset="0"/>
                <a:ea typeface="Calibri" pitchFamily="34" charset="-122"/>
                <a:cs typeface="Calibri" pitchFamily="34" charset="-120"/>
              </a:rPr>
              <a:t>Butter &amp; Cheese show room for growth through promotions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E45"/>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rPr>
              <a:t>Seasonality &amp; Festival Impact</a:t>
            </a:r>
            <a:endParaRPr lang="en-US" sz="2600" dirty="0"/>
          </a:p>
        </p:txBody>
      </p:sp>
      <p:graphicFrame>
        <p:nvGraphicFramePr>
          <p:cNvPr id="4" name="Chart 0" descr=""/>
          <p:cNvGraphicFramePr/>
          <p:nvPr/>
        </p:nvGraphicFramePr>
        <p:xfrm>
          <a:off x="274320" y="1097280"/>
          <a:ext cx="530352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274320" y="4023360"/>
          <a:ext cx="5303520" cy="10058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760720" y="1097280"/>
            <a:ext cx="3108960" cy="3931920"/>
          </a:xfrm>
          <a:prstGeom prst="rect">
            <a:avLst/>
          </a:prstGeom>
          <a:solidFill>
            <a:srgbClr val="162537"/>
          </a:solidFill>
          <a:ln w="19050">
            <a:solidFill>
              <a:srgbClr val="FFD166"/>
            </a:solidFill>
            <a:prstDash val="solid"/>
          </a:ln>
          <a:effectLst>
            <a:outerShdw sx="100000" sy="100000" kx="0" ky="0" algn="bl" rotWithShape="0" blurRad="101600" dist="38100" dir="8100000">
              <a:srgbClr val="000000">
                <a:alpha val="25000"/>
              </a:srgbClr>
            </a:outerShdw>
          </a:effectLst>
        </p:spPr>
      </p:sp>
      <p:sp>
        <p:nvSpPr>
          <p:cNvPr id="7" name="Text 3"/>
          <p:cNvSpPr/>
          <p:nvPr/>
        </p:nvSpPr>
        <p:spPr>
          <a:xfrm>
            <a:off x="5943600" y="1261872"/>
            <a:ext cx="2743200" cy="411480"/>
          </a:xfrm>
          <a:prstGeom prst="rect">
            <a:avLst/>
          </a:prstGeom>
          <a:noFill/>
          <a:ln/>
        </p:spPr>
        <p:txBody>
          <a:bodyPr wrap="square" rtlCol="0" anchor="ctr"/>
          <a:lstStyle/>
          <a:p>
            <a:pPr indent="0" marL="0">
              <a:buNone/>
            </a:pPr>
            <a:r>
              <a:rPr lang="en-US" sz="1300" b="1" dirty="0">
                <a:solidFill>
                  <a:srgbClr val="FFD166"/>
                </a:solidFill>
              </a:rPr>
              <a:t>🎉  Seasonality Insights</a:t>
            </a:r>
            <a:endParaRPr lang="en-US" sz="1300" dirty="0"/>
          </a:p>
        </p:txBody>
      </p:sp>
      <p:sp>
        <p:nvSpPr>
          <p:cNvPr id="8" name="Text 4"/>
          <p:cNvSpPr/>
          <p:nvPr/>
        </p:nvSpPr>
        <p:spPr>
          <a:xfrm>
            <a:off x="5897880" y="1737360"/>
            <a:ext cx="2834640" cy="3108960"/>
          </a:xfrm>
          <a:prstGeom prst="rect">
            <a:avLst/>
          </a:prstGeom>
          <a:noFill/>
          <a:ln/>
        </p:spPr>
        <p:txBody>
          <a:bodyPr wrap="square" rtlCol="0" anchor="ctr"/>
          <a:lstStyle/>
          <a:p>
            <a:pPr marL="342900" indent="-342900">
              <a:spcAft>
                <a:spcPts val="800"/>
              </a:spcAft>
              <a:buSzPct val="100000"/>
              <a:buChar char="•"/>
            </a:pPr>
            <a:r>
              <a:rPr lang="en-US" sz="1100" dirty="0">
                <a:solidFill>
                  <a:srgbClr val="E8F4FD"/>
                </a:solidFill>
              </a:rPr>
              <a:t>Peak months: March, October &amp; November (seasonal festivals)</a:t>
            </a:r>
            <a:endParaRPr lang="en-US" sz="1100" dirty="0"/>
          </a:p>
          <a:p>
            <a:pPr marL="342900" indent="-342900">
              <a:spcAft>
                <a:spcPts val="800"/>
              </a:spcAft>
              <a:buSzPct val="100000"/>
              <a:buChar char="•"/>
            </a:pPr>
            <a:r>
              <a:rPr lang="en-US" sz="1100" dirty="0">
                <a:solidFill>
                  <a:srgbClr val="E8F4FD"/>
                </a:solidFill>
              </a:rPr>
              <a:t>Lowest months: February, September &amp; December</a:t>
            </a:r>
            <a:endParaRPr lang="en-US" sz="1100" dirty="0"/>
          </a:p>
          <a:p>
            <a:pPr marL="342900" indent="-342900">
              <a:spcAft>
                <a:spcPts val="800"/>
              </a:spcAft>
              <a:buSzPct val="100000"/>
              <a:buChar char="•"/>
            </a:pPr>
            <a:r>
              <a:rPr lang="en-US" sz="1100" dirty="0">
                <a:solidFill>
                  <a:srgbClr val="E8F4FD"/>
                </a:solidFill>
              </a:rPr>
              <a:t>Festival days see 41% higher average demand (316 vs 224 units)</a:t>
            </a:r>
            <a:endParaRPr lang="en-US" sz="1100" dirty="0"/>
          </a:p>
          <a:p>
            <a:pPr marL="342900" indent="-342900">
              <a:spcAft>
                <a:spcPts val="800"/>
              </a:spcAft>
              <a:buSzPct val="100000"/>
              <a:buChar char="•"/>
            </a:pPr>
            <a:r>
              <a:rPr lang="en-US" sz="1100" dirty="0">
                <a:solidFill>
                  <a:srgbClr val="E8F4FD"/>
                </a:solidFill>
              </a:rPr>
              <a:t>Holiday flags also correlate with demand spikes</a:t>
            </a:r>
            <a:endParaRPr lang="en-US" sz="1100" dirty="0"/>
          </a:p>
          <a:p>
            <a:pPr marL="342900" indent="-342900">
              <a:spcAft>
                <a:spcPts val="800"/>
              </a:spcAft>
              <a:buSzPct val="100000"/>
              <a:buChar char="•"/>
            </a:pPr>
            <a:r>
              <a:rPr lang="en-US" sz="1100" dirty="0">
                <a:solidFill>
                  <a:srgbClr val="E8F4FD"/>
                </a:solidFill>
              </a:rPr>
              <a:t>Temperature has a mild positive correlation with dairy demand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45"/>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rPr>
              <a:t>Region-wise Sales Distribution</a:t>
            </a:r>
            <a:endParaRPr lang="en-US" sz="2600" dirty="0"/>
          </a:p>
        </p:txBody>
      </p:sp>
      <p:graphicFrame>
        <p:nvGraphicFramePr>
          <p:cNvPr id="4" name="Chart 0" descr=""/>
          <p:cNvGraphicFramePr/>
          <p:nvPr/>
        </p:nvGraphicFramePr>
        <p:xfrm>
          <a:off x="274320" y="1097280"/>
          <a:ext cx="457200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029200" y="1097280"/>
            <a:ext cx="3840480" cy="3749040"/>
          </a:xfrm>
          <a:prstGeom prst="rect">
            <a:avLst/>
          </a:prstGeom>
          <a:solidFill>
            <a:srgbClr val="162537"/>
          </a:solidFill>
          <a:ln w="19050">
            <a:solidFill>
              <a:srgbClr val="06D6A0"/>
            </a:solidFill>
            <a:prstDash val="solid"/>
          </a:ln>
          <a:effectLst>
            <a:outerShdw sx="100000" sy="100000" kx="0" ky="0" algn="bl" rotWithShape="0" blurRad="101600" dist="38100" dir="8100000">
              <a:srgbClr val="000000">
                <a:alpha val="25000"/>
              </a:srgbClr>
            </a:outerShdw>
          </a:effectLst>
        </p:spPr>
      </p:sp>
      <p:sp>
        <p:nvSpPr>
          <p:cNvPr id="6" name="Text 3"/>
          <p:cNvSpPr/>
          <p:nvPr/>
        </p:nvSpPr>
        <p:spPr>
          <a:xfrm>
            <a:off x="5212080" y="1261872"/>
            <a:ext cx="3474720" cy="411480"/>
          </a:xfrm>
          <a:prstGeom prst="rect">
            <a:avLst/>
          </a:prstGeom>
          <a:noFill/>
          <a:ln/>
        </p:spPr>
        <p:txBody>
          <a:bodyPr wrap="square" rtlCol="0" anchor="ctr"/>
          <a:lstStyle/>
          <a:p>
            <a:pPr indent="0" marL="0">
              <a:buNone/>
            </a:pPr>
            <a:r>
              <a:rPr lang="en-US" sz="1300" b="1" dirty="0">
                <a:solidFill>
                  <a:srgbClr val="06D6A0"/>
                </a:solidFill>
              </a:rPr>
              <a:t>🗺  Region Breakdown</a:t>
            </a:r>
            <a:endParaRPr lang="en-US" sz="1300" dirty="0"/>
          </a:p>
        </p:txBody>
      </p:sp>
      <p:sp>
        <p:nvSpPr>
          <p:cNvPr id="7" name="Shape 4"/>
          <p:cNvSpPr/>
          <p:nvPr/>
        </p:nvSpPr>
        <p:spPr>
          <a:xfrm>
            <a:off x="5166360" y="1783080"/>
            <a:ext cx="164592" cy="502920"/>
          </a:xfrm>
          <a:prstGeom prst="rect">
            <a:avLst/>
          </a:prstGeom>
          <a:solidFill>
            <a:srgbClr val="00B4D8"/>
          </a:solidFill>
          <a:ln w="12700">
            <a:solidFill>
              <a:srgbClr val="00B4D8"/>
            </a:solidFill>
            <a:prstDash val="solid"/>
          </a:ln>
        </p:spPr>
      </p:sp>
      <p:sp>
        <p:nvSpPr>
          <p:cNvPr id="8" name="Text 5"/>
          <p:cNvSpPr/>
          <p:nvPr/>
        </p:nvSpPr>
        <p:spPr>
          <a:xfrm>
            <a:off x="5440680" y="1783080"/>
            <a:ext cx="1371600" cy="274320"/>
          </a:xfrm>
          <a:prstGeom prst="rect">
            <a:avLst/>
          </a:prstGeom>
          <a:noFill/>
          <a:ln/>
        </p:spPr>
        <p:txBody>
          <a:bodyPr wrap="square" rtlCol="0" anchor="ctr"/>
          <a:lstStyle/>
          <a:p>
            <a:pPr indent="0" marL="0">
              <a:buNone/>
            </a:pPr>
            <a:r>
              <a:rPr lang="en-US" sz="1300" b="1" dirty="0">
                <a:solidFill>
                  <a:srgbClr val="FFFFFF"/>
                </a:solidFill>
              </a:rPr>
              <a:t>West</a:t>
            </a:r>
            <a:endParaRPr lang="en-US" sz="1300" dirty="0"/>
          </a:p>
        </p:txBody>
      </p:sp>
      <p:sp>
        <p:nvSpPr>
          <p:cNvPr id="9" name="Text 6"/>
          <p:cNvSpPr/>
          <p:nvPr/>
        </p:nvSpPr>
        <p:spPr>
          <a:xfrm>
            <a:off x="5440680" y="2029968"/>
            <a:ext cx="1828800" cy="228600"/>
          </a:xfrm>
          <a:prstGeom prst="rect">
            <a:avLst/>
          </a:prstGeom>
          <a:noFill/>
          <a:ln/>
        </p:spPr>
        <p:txBody>
          <a:bodyPr wrap="square" rtlCol="0" anchor="ctr"/>
          <a:lstStyle/>
          <a:p>
            <a:pPr indent="0" marL="0">
              <a:buNone/>
            </a:pPr>
            <a:r>
              <a:rPr lang="en-US" sz="1000" dirty="0">
                <a:solidFill>
                  <a:srgbClr val="8DA9C4"/>
                </a:solidFill>
              </a:rPr>
              <a:t>2,266,660 units</a:t>
            </a:r>
            <a:endParaRPr lang="en-US" sz="1000" dirty="0"/>
          </a:p>
        </p:txBody>
      </p:sp>
      <p:sp>
        <p:nvSpPr>
          <p:cNvPr id="10" name="Text 7"/>
          <p:cNvSpPr/>
          <p:nvPr/>
        </p:nvSpPr>
        <p:spPr>
          <a:xfrm>
            <a:off x="7772400" y="1783080"/>
            <a:ext cx="914400" cy="502920"/>
          </a:xfrm>
          <a:prstGeom prst="rect">
            <a:avLst/>
          </a:prstGeom>
          <a:noFill/>
          <a:ln/>
        </p:spPr>
        <p:txBody>
          <a:bodyPr wrap="square" rtlCol="0" anchor="ctr"/>
          <a:lstStyle/>
          <a:p>
            <a:pPr algn="r" indent="0" marL="0">
              <a:buNone/>
            </a:pPr>
            <a:r>
              <a:rPr lang="en-US" sz="1500" b="1" dirty="0">
                <a:solidFill>
                  <a:srgbClr val="00B4D8"/>
                </a:solidFill>
              </a:rPr>
              <a:t>25.1%</a:t>
            </a:r>
            <a:endParaRPr lang="en-US" sz="1500" dirty="0"/>
          </a:p>
        </p:txBody>
      </p:sp>
      <p:sp>
        <p:nvSpPr>
          <p:cNvPr id="11" name="Shape 8"/>
          <p:cNvSpPr/>
          <p:nvPr/>
        </p:nvSpPr>
        <p:spPr>
          <a:xfrm>
            <a:off x="5166360" y="2532888"/>
            <a:ext cx="164592" cy="502920"/>
          </a:xfrm>
          <a:prstGeom prst="rect">
            <a:avLst/>
          </a:prstGeom>
          <a:solidFill>
            <a:srgbClr val="06D6A0"/>
          </a:solidFill>
          <a:ln w="12700">
            <a:solidFill>
              <a:srgbClr val="06D6A0"/>
            </a:solidFill>
            <a:prstDash val="solid"/>
          </a:ln>
        </p:spPr>
      </p:sp>
      <p:sp>
        <p:nvSpPr>
          <p:cNvPr id="12" name="Text 9"/>
          <p:cNvSpPr/>
          <p:nvPr/>
        </p:nvSpPr>
        <p:spPr>
          <a:xfrm>
            <a:off x="5440680" y="2532888"/>
            <a:ext cx="1371600" cy="274320"/>
          </a:xfrm>
          <a:prstGeom prst="rect">
            <a:avLst/>
          </a:prstGeom>
          <a:noFill/>
          <a:ln/>
        </p:spPr>
        <p:txBody>
          <a:bodyPr wrap="square" rtlCol="0" anchor="ctr"/>
          <a:lstStyle/>
          <a:p>
            <a:pPr indent="0" marL="0">
              <a:buNone/>
            </a:pPr>
            <a:r>
              <a:rPr lang="en-US" sz="1300" b="1" dirty="0">
                <a:solidFill>
                  <a:srgbClr val="FFFFFF"/>
                </a:solidFill>
              </a:rPr>
              <a:t>South</a:t>
            </a:r>
            <a:endParaRPr lang="en-US" sz="1300" dirty="0"/>
          </a:p>
        </p:txBody>
      </p:sp>
      <p:sp>
        <p:nvSpPr>
          <p:cNvPr id="13" name="Text 10"/>
          <p:cNvSpPr/>
          <p:nvPr/>
        </p:nvSpPr>
        <p:spPr>
          <a:xfrm>
            <a:off x="5440680" y="2779776"/>
            <a:ext cx="1828800" cy="228600"/>
          </a:xfrm>
          <a:prstGeom prst="rect">
            <a:avLst/>
          </a:prstGeom>
          <a:noFill/>
          <a:ln/>
        </p:spPr>
        <p:txBody>
          <a:bodyPr wrap="square" rtlCol="0" anchor="ctr"/>
          <a:lstStyle/>
          <a:p>
            <a:pPr indent="0" marL="0">
              <a:buNone/>
            </a:pPr>
            <a:r>
              <a:rPr lang="en-US" sz="1000" dirty="0">
                <a:solidFill>
                  <a:srgbClr val="8DA9C4"/>
                </a:solidFill>
              </a:rPr>
              <a:t>2,253,509 units</a:t>
            </a:r>
            <a:endParaRPr lang="en-US" sz="1000" dirty="0"/>
          </a:p>
        </p:txBody>
      </p:sp>
      <p:sp>
        <p:nvSpPr>
          <p:cNvPr id="14" name="Text 11"/>
          <p:cNvSpPr/>
          <p:nvPr/>
        </p:nvSpPr>
        <p:spPr>
          <a:xfrm>
            <a:off x="7772400" y="2532888"/>
            <a:ext cx="914400" cy="502920"/>
          </a:xfrm>
          <a:prstGeom prst="rect">
            <a:avLst/>
          </a:prstGeom>
          <a:noFill/>
          <a:ln/>
        </p:spPr>
        <p:txBody>
          <a:bodyPr wrap="square" rtlCol="0" anchor="ctr"/>
          <a:lstStyle/>
          <a:p>
            <a:pPr algn="r" indent="0" marL="0">
              <a:buNone/>
            </a:pPr>
            <a:r>
              <a:rPr lang="en-US" sz="1500" b="1" dirty="0">
                <a:solidFill>
                  <a:srgbClr val="06D6A0"/>
                </a:solidFill>
              </a:rPr>
              <a:t>25.0%</a:t>
            </a:r>
            <a:endParaRPr lang="en-US" sz="1500" dirty="0"/>
          </a:p>
        </p:txBody>
      </p:sp>
      <p:sp>
        <p:nvSpPr>
          <p:cNvPr id="15" name="Shape 12"/>
          <p:cNvSpPr/>
          <p:nvPr/>
        </p:nvSpPr>
        <p:spPr>
          <a:xfrm>
            <a:off x="5166360" y="3282696"/>
            <a:ext cx="164592" cy="502920"/>
          </a:xfrm>
          <a:prstGeom prst="rect">
            <a:avLst/>
          </a:prstGeom>
          <a:solidFill>
            <a:srgbClr val="FFD166"/>
          </a:solidFill>
          <a:ln w="12700">
            <a:solidFill>
              <a:srgbClr val="FFD166"/>
            </a:solidFill>
            <a:prstDash val="solid"/>
          </a:ln>
        </p:spPr>
      </p:sp>
      <p:sp>
        <p:nvSpPr>
          <p:cNvPr id="16" name="Text 13"/>
          <p:cNvSpPr/>
          <p:nvPr/>
        </p:nvSpPr>
        <p:spPr>
          <a:xfrm>
            <a:off x="5440680" y="3282696"/>
            <a:ext cx="1371600" cy="274320"/>
          </a:xfrm>
          <a:prstGeom prst="rect">
            <a:avLst/>
          </a:prstGeom>
          <a:noFill/>
          <a:ln/>
        </p:spPr>
        <p:txBody>
          <a:bodyPr wrap="square" rtlCol="0" anchor="ctr"/>
          <a:lstStyle/>
          <a:p>
            <a:pPr indent="0" marL="0">
              <a:buNone/>
            </a:pPr>
            <a:r>
              <a:rPr lang="en-US" sz="1300" b="1" dirty="0">
                <a:solidFill>
                  <a:srgbClr val="FFFFFF"/>
                </a:solidFill>
              </a:rPr>
              <a:t>North</a:t>
            </a:r>
            <a:endParaRPr lang="en-US" sz="1300" dirty="0"/>
          </a:p>
        </p:txBody>
      </p:sp>
      <p:sp>
        <p:nvSpPr>
          <p:cNvPr id="17" name="Text 14"/>
          <p:cNvSpPr/>
          <p:nvPr/>
        </p:nvSpPr>
        <p:spPr>
          <a:xfrm>
            <a:off x="5440680" y="3529584"/>
            <a:ext cx="1828800" cy="228600"/>
          </a:xfrm>
          <a:prstGeom prst="rect">
            <a:avLst/>
          </a:prstGeom>
          <a:noFill/>
          <a:ln/>
        </p:spPr>
        <p:txBody>
          <a:bodyPr wrap="square" rtlCol="0" anchor="ctr"/>
          <a:lstStyle/>
          <a:p>
            <a:pPr indent="0" marL="0">
              <a:buNone/>
            </a:pPr>
            <a:r>
              <a:rPr lang="en-US" sz="1000" dirty="0">
                <a:solidFill>
                  <a:srgbClr val="8DA9C4"/>
                </a:solidFill>
              </a:rPr>
              <a:t>2,250,642 units</a:t>
            </a:r>
            <a:endParaRPr lang="en-US" sz="1000" dirty="0"/>
          </a:p>
        </p:txBody>
      </p:sp>
      <p:sp>
        <p:nvSpPr>
          <p:cNvPr id="18" name="Text 15"/>
          <p:cNvSpPr/>
          <p:nvPr/>
        </p:nvSpPr>
        <p:spPr>
          <a:xfrm>
            <a:off x="7772400" y="3282696"/>
            <a:ext cx="914400" cy="502920"/>
          </a:xfrm>
          <a:prstGeom prst="rect">
            <a:avLst/>
          </a:prstGeom>
          <a:noFill/>
          <a:ln/>
        </p:spPr>
        <p:txBody>
          <a:bodyPr wrap="square" rtlCol="0" anchor="ctr"/>
          <a:lstStyle/>
          <a:p>
            <a:pPr algn="r" indent="0" marL="0">
              <a:buNone/>
            </a:pPr>
            <a:r>
              <a:rPr lang="en-US" sz="1500" b="1" dirty="0">
                <a:solidFill>
                  <a:srgbClr val="FFD166"/>
                </a:solidFill>
              </a:rPr>
              <a:t>24.95%</a:t>
            </a:r>
            <a:endParaRPr lang="en-US" sz="1500" dirty="0"/>
          </a:p>
        </p:txBody>
      </p:sp>
      <p:sp>
        <p:nvSpPr>
          <p:cNvPr id="19" name="Shape 16"/>
          <p:cNvSpPr/>
          <p:nvPr/>
        </p:nvSpPr>
        <p:spPr>
          <a:xfrm>
            <a:off x="5166360" y="4032504"/>
            <a:ext cx="164592" cy="502920"/>
          </a:xfrm>
          <a:prstGeom prst="rect">
            <a:avLst/>
          </a:prstGeom>
          <a:solidFill>
            <a:srgbClr val="FF6B6B"/>
          </a:solidFill>
          <a:ln w="12700">
            <a:solidFill>
              <a:srgbClr val="FF6B6B"/>
            </a:solidFill>
            <a:prstDash val="solid"/>
          </a:ln>
        </p:spPr>
      </p:sp>
      <p:sp>
        <p:nvSpPr>
          <p:cNvPr id="20" name="Text 17"/>
          <p:cNvSpPr/>
          <p:nvPr/>
        </p:nvSpPr>
        <p:spPr>
          <a:xfrm>
            <a:off x="5440680" y="4032504"/>
            <a:ext cx="1371600" cy="274320"/>
          </a:xfrm>
          <a:prstGeom prst="rect">
            <a:avLst/>
          </a:prstGeom>
          <a:noFill/>
          <a:ln/>
        </p:spPr>
        <p:txBody>
          <a:bodyPr wrap="square" rtlCol="0" anchor="ctr"/>
          <a:lstStyle/>
          <a:p>
            <a:pPr indent="0" marL="0">
              <a:buNone/>
            </a:pPr>
            <a:r>
              <a:rPr lang="en-US" sz="1300" b="1" dirty="0">
                <a:solidFill>
                  <a:srgbClr val="FFFFFF"/>
                </a:solidFill>
              </a:rPr>
              <a:t>East</a:t>
            </a:r>
            <a:endParaRPr lang="en-US" sz="1300" dirty="0"/>
          </a:p>
        </p:txBody>
      </p:sp>
      <p:sp>
        <p:nvSpPr>
          <p:cNvPr id="21" name="Text 18"/>
          <p:cNvSpPr/>
          <p:nvPr/>
        </p:nvSpPr>
        <p:spPr>
          <a:xfrm>
            <a:off x="5440680" y="4279392"/>
            <a:ext cx="1828800" cy="228600"/>
          </a:xfrm>
          <a:prstGeom prst="rect">
            <a:avLst/>
          </a:prstGeom>
          <a:noFill/>
          <a:ln/>
        </p:spPr>
        <p:txBody>
          <a:bodyPr wrap="square" rtlCol="0" anchor="ctr"/>
          <a:lstStyle/>
          <a:p>
            <a:pPr indent="0" marL="0">
              <a:buNone/>
            </a:pPr>
            <a:r>
              <a:rPr lang="en-US" sz="1000" dirty="0">
                <a:solidFill>
                  <a:srgbClr val="8DA9C4"/>
                </a:solidFill>
              </a:rPr>
              <a:t>2,248,809 units</a:t>
            </a:r>
            <a:endParaRPr lang="en-US" sz="1000" dirty="0"/>
          </a:p>
        </p:txBody>
      </p:sp>
      <p:sp>
        <p:nvSpPr>
          <p:cNvPr id="22" name="Text 19"/>
          <p:cNvSpPr/>
          <p:nvPr/>
        </p:nvSpPr>
        <p:spPr>
          <a:xfrm>
            <a:off x="7772400" y="4032504"/>
            <a:ext cx="914400" cy="502920"/>
          </a:xfrm>
          <a:prstGeom prst="rect">
            <a:avLst/>
          </a:prstGeom>
          <a:noFill/>
          <a:ln/>
        </p:spPr>
        <p:txBody>
          <a:bodyPr wrap="square" rtlCol="0" anchor="ctr"/>
          <a:lstStyle/>
          <a:p>
            <a:pPr algn="r" indent="0" marL="0">
              <a:buNone/>
            </a:pPr>
            <a:r>
              <a:rPr lang="en-US" sz="1500" b="1" dirty="0">
                <a:solidFill>
                  <a:srgbClr val="FF6B6B"/>
                </a:solidFill>
              </a:rPr>
              <a:t>24.95%</a:t>
            </a:r>
            <a:endParaRPr lang="en-US" sz="1500" dirty="0"/>
          </a:p>
        </p:txBody>
      </p:sp>
      <p:sp>
        <p:nvSpPr>
          <p:cNvPr id="23" name="Text 20"/>
          <p:cNvSpPr/>
          <p:nvPr/>
        </p:nvSpPr>
        <p:spPr>
          <a:xfrm>
            <a:off x="5166360" y="4572000"/>
            <a:ext cx="3474720" cy="228600"/>
          </a:xfrm>
          <a:prstGeom prst="rect">
            <a:avLst/>
          </a:prstGeom>
          <a:noFill/>
          <a:ln/>
        </p:spPr>
        <p:txBody>
          <a:bodyPr wrap="square" rtlCol="0" anchor="ctr"/>
          <a:lstStyle/>
          <a:p>
            <a:pPr indent="0" marL="0">
              <a:buNone/>
            </a:pPr>
            <a:r>
              <a:rPr lang="en-US" sz="1000" i="1" dirty="0">
                <a:solidFill>
                  <a:srgbClr val="8DA9C4"/>
                </a:solidFill>
              </a:rPr>
              <a:t>🔑  All 4 regions are nearly equal — indicating uniform nationwide demand.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E45"/>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rPr>
              <a:t>Forecasting Models Used</a:t>
            </a:r>
            <a:endParaRPr lang="en-US" sz="2600" dirty="0"/>
          </a:p>
        </p:txBody>
      </p:sp>
      <p:sp>
        <p:nvSpPr>
          <p:cNvPr id="4" name="Shape 2"/>
          <p:cNvSpPr/>
          <p:nvPr/>
        </p:nvSpPr>
        <p:spPr>
          <a:xfrm>
            <a:off x="228600" y="1097280"/>
            <a:ext cx="2743200" cy="3749040"/>
          </a:xfrm>
          <a:prstGeom prst="rect">
            <a:avLst/>
          </a:prstGeom>
          <a:solidFill>
            <a:srgbClr val="162537"/>
          </a:solidFill>
          <a:ln w="25400">
            <a:solidFill>
              <a:srgbClr val="FF6B6B"/>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228600" y="1097280"/>
            <a:ext cx="2743200" cy="73152"/>
          </a:xfrm>
          <a:prstGeom prst="rect">
            <a:avLst/>
          </a:prstGeom>
          <a:solidFill>
            <a:srgbClr val="FF6B6B"/>
          </a:solidFill>
          <a:ln w="12700">
            <a:solidFill>
              <a:srgbClr val="FF6B6B"/>
            </a:solidFill>
            <a:prstDash val="solid"/>
          </a:ln>
        </p:spPr>
      </p:sp>
      <p:sp>
        <p:nvSpPr>
          <p:cNvPr id="6" name="Text 4"/>
          <p:cNvSpPr/>
          <p:nvPr/>
        </p:nvSpPr>
        <p:spPr>
          <a:xfrm>
            <a:off x="365760" y="1234440"/>
            <a:ext cx="2468880" cy="502920"/>
          </a:xfrm>
          <a:prstGeom prst="rect">
            <a:avLst/>
          </a:prstGeom>
          <a:noFill/>
          <a:ln/>
        </p:spPr>
        <p:txBody>
          <a:bodyPr wrap="square" rtlCol="0" anchor="ctr"/>
          <a:lstStyle/>
          <a:p>
            <a:pPr indent="0" marL="0">
              <a:buNone/>
            </a:pPr>
            <a:r>
              <a:rPr lang="en-US" sz="2200" b="1" dirty="0">
                <a:solidFill>
                  <a:srgbClr val="FF6B6B"/>
                </a:solidFill>
                <a:latin typeface="Calibri" pitchFamily="34" charset="0"/>
                <a:ea typeface="Calibri" pitchFamily="34" charset="-122"/>
                <a:cs typeface="Calibri" pitchFamily="34" charset="-120"/>
              </a:rPr>
              <a:t>ARIMA</a:t>
            </a:r>
            <a:endParaRPr lang="en-US" sz="2200" dirty="0"/>
          </a:p>
        </p:txBody>
      </p:sp>
      <p:sp>
        <p:nvSpPr>
          <p:cNvPr id="7" name="Text 5"/>
          <p:cNvSpPr/>
          <p:nvPr/>
        </p:nvSpPr>
        <p:spPr>
          <a:xfrm>
            <a:off x="365760" y="1737360"/>
            <a:ext cx="2468880" cy="411480"/>
          </a:xfrm>
          <a:prstGeom prst="rect">
            <a:avLst/>
          </a:prstGeom>
          <a:noFill/>
          <a:ln/>
        </p:spPr>
        <p:txBody>
          <a:bodyPr wrap="square" rtlCol="0" anchor="ctr"/>
          <a:lstStyle/>
          <a:p>
            <a:pPr indent="0" marL="0">
              <a:buNone/>
            </a:pPr>
            <a:r>
              <a:rPr lang="en-US" sz="950" i="1" dirty="0">
                <a:solidFill>
                  <a:srgbClr val="8DA9C4"/>
                </a:solidFill>
              </a:rPr>
              <a:t>AutoRegressive Integrated Moving Average</a:t>
            </a:r>
            <a:endParaRPr lang="en-US" sz="950" dirty="0"/>
          </a:p>
        </p:txBody>
      </p:sp>
      <p:sp>
        <p:nvSpPr>
          <p:cNvPr id="8" name="Shape 6"/>
          <p:cNvSpPr/>
          <p:nvPr/>
        </p:nvSpPr>
        <p:spPr>
          <a:xfrm>
            <a:off x="365760" y="2194560"/>
            <a:ext cx="1920240" cy="320040"/>
          </a:xfrm>
          <a:prstGeom prst="roundRect">
            <a:avLst>
              <a:gd name="adj" fmla="val 22857"/>
            </a:avLst>
          </a:prstGeom>
          <a:solidFill>
            <a:srgbClr val="000000"/>
          </a:solidFill>
          <a:ln w="12700">
            <a:solidFill>
              <a:srgbClr val="FF6B6B"/>
            </a:solidFill>
            <a:prstDash val="solid"/>
          </a:ln>
        </p:spPr>
      </p:sp>
      <p:sp>
        <p:nvSpPr>
          <p:cNvPr id="9" name="Text 7"/>
          <p:cNvSpPr/>
          <p:nvPr/>
        </p:nvSpPr>
        <p:spPr>
          <a:xfrm>
            <a:off x="365760" y="2194560"/>
            <a:ext cx="1920240" cy="320040"/>
          </a:xfrm>
          <a:prstGeom prst="rect">
            <a:avLst/>
          </a:prstGeom>
          <a:noFill/>
          <a:ln/>
        </p:spPr>
        <p:txBody>
          <a:bodyPr wrap="square" lIns="0" tIns="0" rIns="0" bIns="0" rtlCol="0" anchor="ctr"/>
          <a:lstStyle/>
          <a:p>
            <a:pPr algn="ctr" indent="0" marL="0">
              <a:buNone/>
            </a:pPr>
            <a:r>
              <a:rPr lang="en-US" sz="1000" b="1" dirty="0">
                <a:solidFill>
                  <a:srgbClr val="FF6B6B"/>
                </a:solidFill>
              </a:rPr>
              <a:t>Order (5,1,0)</a:t>
            </a:r>
            <a:endParaRPr lang="en-US" sz="1000" dirty="0"/>
          </a:p>
        </p:txBody>
      </p:sp>
      <p:sp>
        <p:nvSpPr>
          <p:cNvPr id="10" name="Text 8"/>
          <p:cNvSpPr/>
          <p:nvPr/>
        </p:nvSpPr>
        <p:spPr>
          <a:xfrm>
            <a:off x="365760" y="2633472"/>
            <a:ext cx="2468880" cy="2011680"/>
          </a:xfrm>
          <a:prstGeom prst="rect">
            <a:avLst/>
          </a:prstGeom>
          <a:noFill/>
          <a:ln/>
        </p:spPr>
        <p:txBody>
          <a:bodyPr wrap="square" rtlCol="0" anchor="ctr"/>
          <a:lstStyle/>
          <a:p>
            <a:pPr marL="342900" indent="-342900">
              <a:spcAft>
                <a:spcPts val="600"/>
              </a:spcAft>
              <a:buSzPct val="100000"/>
              <a:buChar char="•"/>
            </a:pPr>
            <a:r>
              <a:rPr lang="en-US" sz="1050" dirty="0">
                <a:solidFill>
                  <a:srgbClr val="E8F4FD"/>
                </a:solidFill>
              </a:rPr>
              <a:t>Classic statistical time-series model</a:t>
            </a:r>
            <a:endParaRPr lang="en-US" sz="1050" dirty="0"/>
          </a:p>
          <a:p>
            <a:pPr marL="342900" indent="-342900">
              <a:spcAft>
                <a:spcPts val="600"/>
              </a:spcAft>
              <a:buSzPct val="100000"/>
              <a:buChar char="•"/>
            </a:pPr>
            <a:r>
              <a:rPr lang="en-US" sz="1050" dirty="0">
                <a:solidFill>
                  <a:srgbClr val="E8F4FD"/>
                </a:solidFill>
              </a:rPr>
              <a:t>Order: (5,1,0)</a:t>
            </a:r>
            <a:endParaRPr lang="en-US" sz="1050" dirty="0"/>
          </a:p>
          <a:p>
            <a:pPr marL="342900" indent="-342900">
              <a:spcAft>
                <a:spcPts val="600"/>
              </a:spcAft>
              <a:buSzPct val="100000"/>
              <a:buChar char="•"/>
            </a:pPr>
            <a:r>
              <a:rPr lang="en-US" sz="1050" dirty="0">
                <a:solidFill>
                  <a:srgbClr val="E8F4FD"/>
                </a:solidFill>
              </a:rPr>
              <a:t>Best for short-term, non-seasonal data</a:t>
            </a:r>
            <a:endParaRPr lang="en-US" sz="1050" dirty="0"/>
          </a:p>
          <a:p>
            <a:pPr marL="342900" indent="-342900">
              <a:spcAft>
                <a:spcPts val="600"/>
              </a:spcAft>
              <a:buSzPct val="100000"/>
              <a:buChar char="•"/>
            </a:pPr>
            <a:r>
              <a:rPr lang="en-US" sz="1050" dirty="0">
                <a:solidFill>
                  <a:srgbClr val="E8F4FD"/>
                </a:solidFill>
              </a:rPr>
              <a:t>Baseline comparison model</a:t>
            </a:r>
            <a:endParaRPr lang="en-US" sz="1050" dirty="0"/>
          </a:p>
        </p:txBody>
      </p:sp>
      <p:sp>
        <p:nvSpPr>
          <p:cNvPr id="11" name="Shape 9"/>
          <p:cNvSpPr/>
          <p:nvPr/>
        </p:nvSpPr>
        <p:spPr>
          <a:xfrm>
            <a:off x="3172968" y="1097280"/>
            <a:ext cx="2743200" cy="3749040"/>
          </a:xfrm>
          <a:prstGeom prst="rect">
            <a:avLst/>
          </a:prstGeom>
          <a:solidFill>
            <a:srgbClr val="162537"/>
          </a:solidFill>
          <a:ln w="25400">
            <a:solidFill>
              <a:srgbClr val="FFD166"/>
            </a:solidFill>
            <a:prstDash val="solid"/>
          </a:ln>
          <a:effectLst>
            <a:outerShdw sx="100000" sy="100000" kx="0" ky="0" algn="bl" rotWithShape="0" blurRad="101600" dist="38100" dir="8100000">
              <a:srgbClr val="000000">
                <a:alpha val="25000"/>
              </a:srgbClr>
            </a:outerShdw>
          </a:effectLst>
        </p:spPr>
      </p:sp>
      <p:sp>
        <p:nvSpPr>
          <p:cNvPr id="12" name="Shape 10"/>
          <p:cNvSpPr/>
          <p:nvPr/>
        </p:nvSpPr>
        <p:spPr>
          <a:xfrm>
            <a:off x="3172968" y="1097280"/>
            <a:ext cx="2743200" cy="73152"/>
          </a:xfrm>
          <a:prstGeom prst="rect">
            <a:avLst/>
          </a:prstGeom>
          <a:solidFill>
            <a:srgbClr val="FFD166"/>
          </a:solidFill>
          <a:ln w="12700">
            <a:solidFill>
              <a:srgbClr val="FFD166"/>
            </a:solidFill>
            <a:prstDash val="solid"/>
          </a:ln>
        </p:spPr>
      </p:sp>
      <p:sp>
        <p:nvSpPr>
          <p:cNvPr id="13" name="Text 11"/>
          <p:cNvSpPr/>
          <p:nvPr/>
        </p:nvSpPr>
        <p:spPr>
          <a:xfrm>
            <a:off x="3310128" y="1234440"/>
            <a:ext cx="2468880" cy="502920"/>
          </a:xfrm>
          <a:prstGeom prst="rect">
            <a:avLst/>
          </a:prstGeom>
          <a:noFill/>
          <a:ln/>
        </p:spPr>
        <p:txBody>
          <a:bodyPr wrap="square" rtlCol="0" anchor="ctr"/>
          <a:lstStyle/>
          <a:p>
            <a:pPr indent="0" marL="0">
              <a:buNone/>
            </a:pPr>
            <a:r>
              <a:rPr lang="en-US" sz="2200" b="1" dirty="0">
                <a:solidFill>
                  <a:srgbClr val="FFD166"/>
                </a:solidFill>
                <a:latin typeface="Calibri" pitchFamily="34" charset="0"/>
                <a:ea typeface="Calibri" pitchFamily="34" charset="-122"/>
                <a:cs typeface="Calibri" pitchFamily="34" charset="-120"/>
              </a:rPr>
              <a:t>SARIMA</a:t>
            </a:r>
            <a:endParaRPr lang="en-US" sz="2200" dirty="0"/>
          </a:p>
        </p:txBody>
      </p:sp>
      <p:sp>
        <p:nvSpPr>
          <p:cNvPr id="14" name="Text 12"/>
          <p:cNvSpPr/>
          <p:nvPr/>
        </p:nvSpPr>
        <p:spPr>
          <a:xfrm>
            <a:off x="3310128" y="1737360"/>
            <a:ext cx="2468880" cy="411480"/>
          </a:xfrm>
          <a:prstGeom prst="rect">
            <a:avLst/>
          </a:prstGeom>
          <a:noFill/>
          <a:ln/>
        </p:spPr>
        <p:txBody>
          <a:bodyPr wrap="square" rtlCol="0" anchor="ctr"/>
          <a:lstStyle/>
          <a:p>
            <a:pPr indent="0" marL="0">
              <a:buNone/>
            </a:pPr>
            <a:r>
              <a:rPr lang="en-US" sz="950" i="1" dirty="0">
                <a:solidFill>
                  <a:srgbClr val="8DA9C4"/>
                </a:solidFill>
              </a:rPr>
              <a:t>Seasonal ARIMA</a:t>
            </a:r>
            <a:endParaRPr lang="en-US" sz="950" dirty="0"/>
          </a:p>
        </p:txBody>
      </p:sp>
      <p:sp>
        <p:nvSpPr>
          <p:cNvPr id="15" name="Shape 13"/>
          <p:cNvSpPr/>
          <p:nvPr/>
        </p:nvSpPr>
        <p:spPr>
          <a:xfrm>
            <a:off x="3310128" y="2194560"/>
            <a:ext cx="1920240" cy="320040"/>
          </a:xfrm>
          <a:prstGeom prst="roundRect">
            <a:avLst>
              <a:gd name="adj" fmla="val 22857"/>
            </a:avLst>
          </a:prstGeom>
          <a:solidFill>
            <a:srgbClr val="000000"/>
          </a:solidFill>
          <a:ln w="12700">
            <a:solidFill>
              <a:srgbClr val="FFD166"/>
            </a:solidFill>
            <a:prstDash val="solid"/>
          </a:ln>
        </p:spPr>
      </p:sp>
      <p:sp>
        <p:nvSpPr>
          <p:cNvPr id="16" name="Text 14"/>
          <p:cNvSpPr/>
          <p:nvPr/>
        </p:nvSpPr>
        <p:spPr>
          <a:xfrm>
            <a:off x="3310128" y="2194560"/>
            <a:ext cx="1920240" cy="320040"/>
          </a:xfrm>
          <a:prstGeom prst="rect">
            <a:avLst/>
          </a:prstGeom>
          <a:noFill/>
          <a:ln/>
        </p:spPr>
        <p:txBody>
          <a:bodyPr wrap="square" lIns="0" tIns="0" rIns="0" bIns="0" rtlCol="0" anchor="ctr"/>
          <a:lstStyle/>
          <a:p>
            <a:pPr algn="ctr" indent="0" marL="0">
              <a:buNone/>
            </a:pPr>
            <a:r>
              <a:rPr lang="en-US" sz="1000" b="1" dirty="0">
                <a:solidFill>
                  <a:srgbClr val="FFD166"/>
                </a:solidFill>
              </a:rPr>
              <a:t>Seasonal(12)</a:t>
            </a:r>
            <a:endParaRPr lang="en-US" sz="1000" dirty="0"/>
          </a:p>
        </p:txBody>
      </p:sp>
      <p:sp>
        <p:nvSpPr>
          <p:cNvPr id="17" name="Text 15"/>
          <p:cNvSpPr/>
          <p:nvPr/>
        </p:nvSpPr>
        <p:spPr>
          <a:xfrm>
            <a:off x="3310128" y="2633472"/>
            <a:ext cx="2468880" cy="2011680"/>
          </a:xfrm>
          <a:prstGeom prst="rect">
            <a:avLst/>
          </a:prstGeom>
          <a:noFill/>
          <a:ln/>
        </p:spPr>
        <p:txBody>
          <a:bodyPr wrap="square" rtlCol="0" anchor="ctr"/>
          <a:lstStyle/>
          <a:p>
            <a:pPr marL="342900" indent="-342900">
              <a:spcAft>
                <a:spcPts val="600"/>
              </a:spcAft>
              <a:buSzPct val="100000"/>
              <a:buChar char="•"/>
            </a:pPr>
            <a:r>
              <a:rPr lang="en-US" sz="1050" dirty="0">
                <a:solidFill>
                  <a:srgbClr val="E8F4FD"/>
                </a:solidFill>
              </a:rPr>
              <a:t>Extends ARIMA with seasonal components</a:t>
            </a:r>
            <a:endParaRPr lang="en-US" sz="1050" dirty="0"/>
          </a:p>
          <a:p>
            <a:pPr marL="342900" indent="-342900">
              <a:spcAft>
                <a:spcPts val="600"/>
              </a:spcAft>
              <a:buSzPct val="100000"/>
              <a:buChar char="•"/>
            </a:pPr>
            <a:r>
              <a:rPr lang="en-US" sz="1050" dirty="0">
                <a:solidFill>
                  <a:srgbClr val="E8F4FD"/>
                </a:solidFill>
              </a:rPr>
              <a:t>Order: (1,1,1) × (1,1,1,12)</a:t>
            </a:r>
            <a:endParaRPr lang="en-US" sz="1050" dirty="0"/>
          </a:p>
          <a:p>
            <a:pPr marL="342900" indent="-342900">
              <a:spcAft>
                <a:spcPts val="600"/>
              </a:spcAft>
              <a:buSzPct val="100000"/>
              <a:buChar char="•"/>
            </a:pPr>
            <a:r>
              <a:rPr lang="en-US" sz="1050" dirty="0">
                <a:solidFill>
                  <a:srgbClr val="E8F4FD"/>
                </a:solidFill>
              </a:rPr>
              <a:t>Captures monthly &amp; yearly patterns</a:t>
            </a:r>
            <a:endParaRPr lang="en-US" sz="1050" dirty="0"/>
          </a:p>
          <a:p>
            <a:pPr marL="342900" indent="-342900">
              <a:spcAft>
                <a:spcPts val="600"/>
              </a:spcAft>
              <a:buSzPct val="100000"/>
              <a:buChar char="•"/>
            </a:pPr>
            <a:r>
              <a:rPr lang="en-US" sz="1050" dirty="0">
                <a:solidFill>
                  <a:srgbClr val="E8F4FD"/>
                </a:solidFill>
              </a:rPr>
              <a:t>Better for seasonal dairy demand</a:t>
            </a:r>
            <a:endParaRPr lang="en-US" sz="1050" dirty="0"/>
          </a:p>
        </p:txBody>
      </p:sp>
      <p:sp>
        <p:nvSpPr>
          <p:cNvPr id="18" name="Shape 16"/>
          <p:cNvSpPr/>
          <p:nvPr/>
        </p:nvSpPr>
        <p:spPr>
          <a:xfrm>
            <a:off x="6117336" y="1097280"/>
            <a:ext cx="2743200" cy="3749040"/>
          </a:xfrm>
          <a:prstGeom prst="rect">
            <a:avLst/>
          </a:prstGeom>
          <a:solidFill>
            <a:srgbClr val="162537"/>
          </a:solidFill>
          <a:ln w="25400">
            <a:solidFill>
              <a:srgbClr val="06D6A0"/>
            </a:solidFill>
            <a:prstDash val="solid"/>
          </a:ln>
          <a:effectLst>
            <a:outerShdw sx="100000" sy="100000" kx="0" ky="0" algn="bl" rotWithShape="0" blurRad="101600" dist="38100" dir="8100000">
              <a:srgbClr val="000000">
                <a:alpha val="25000"/>
              </a:srgbClr>
            </a:outerShdw>
          </a:effectLst>
        </p:spPr>
      </p:sp>
      <p:sp>
        <p:nvSpPr>
          <p:cNvPr id="19" name="Shape 17"/>
          <p:cNvSpPr/>
          <p:nvPr/>
        </p:nvSpPr>
        <p:spPr>
          <a:xfrm>
            <a:off x="6117336" y="1097280"/>
            <a:ext cx="2743200" cy="73152"/>
          </a:xfrm>
          <a:prstGeom prst="rect">
            <a:avLst/>
          </a:prstGeom>
          <a:solidFill>
            <a:srgbClr val="06D6A0"/>
          </a:solidFill>
          <a:ln w="12700">
            <a:solidFill>
              <a:srgbClr val="06D6A0"/>
            </a:solidFill>
            <a:prstDash val="solid"/>
          </a:ln>
        </p:spPr>
      </p:sp>
      <p:sp>
        <p:nvSpPr>
          <p:cNvPr id="20" name="Text 18"/>
          <p:cNvSpPr/>
          <p:nvPr/>
        </p:nvSpPr>
        <p:spPr>
          <a:xfrm>
            <a:off x="6254496" y="1234440"/>
            <a:ext cx="2468880" cy="502920"/>
          </a:xfrm>
          <a:prstGeom prst="rect">
            <a:avLst/>
          </a:prstGeom>
          <a:noFill/>
          <a:ln/>
        </p:spPr>
        <p:txBody>
          <a:bodyPr wrap="square" rtlCol="0" anchor="ctr"/>
          <a:lstStyle/>
          <a:p>
            <a:pPr indent="0" marL="0">
              <a:buNone/>
            </a:pPr>
            <a:r>
              <a:rPr lang="en-US" sz="2200" b="1" dirty="0">
                <a:solidFill>
                  <a:srgbClr val="06D6A0"/>
                </a:solidFill>
                <a:latin typeface="Calibri" pitchFamily="34" charset="0"/>
                <a:ea typeface="Calibri" pitchFamily="34" charset="-122"/>
                <a:cs typeface="Calibri" pitchFamily="34" charset="-120"/>
              </a:rPr>
              <a:t>Prophet</a:t>
            </a:r>
            <a:endParaRPr lang="en-US" sz="2200" dirty="0"/>
          </a:p>
        </p:txBody>
      </p:sp>
      <p:sp>
        <p:nvSpPr>
          <p:cNvPr id="21" name="Text 19"/>
          <p:cNvSpPr/>
          <p:nvPr/>
        </p:nvSpPr>
        <p:spPr>
          <a:xfrm>
            <a:off x="6254496" y="1737360"/>
            <a:ext cx="2468880" cy="411480"/>
          </a:xfrm>
          <a:prstGeom prst="rect">
            <a:avLst/>
          </a:prstGeom>
          <a:noFill/>
          <a:ln/>
        </p:spPr>
        <p:txBody>
          <a:bodyPr wrap="square" rtlCol="0" anchor="ctr"/>
          <a:lstStyle/>
          <a:p>
            <a:pPr indent="0" marL="0">
              <a:buNone/>
            </a:pPr>
            <a:r>
              <a:rPr lang="en-US" sz="950" i="1" dirty="0">
                <a:solidFill>
                  <a:srgbClr val="8DA9C4"/>
                </a:solidFill>
              </a:rPr>
              <a:t>Facebook/Meta Prophet</a:t>
            </a:r>
            <a:endParaRPr lang="en-US" sz="950" dirty="0"/>
          </a:p>
        </p:txBody>
      </p:sp>
      <p:sp>
        <p:nvSpPr>
          <p:cNvPr id="22" name="Shape 20"/>
          <p:cNvSpPr/>
          <p:nvPr/>
        </p:nvSpPr>
        <p:spPr>
          <a:xfrm>
            <a:off x="6254496" y="2194560"/>
            <a:ext cx="1920240" cy="320040"/>
          </a:xfrm>
          <a:prstGeom prst="roundRect">
            <a:avLst>
              <a:gd name="adj" fmla="val 22857"/>
            </a:avLst>
          </a:prstGeom>
          <a:solidFill>
            <a:srgbClr val="000000"/>
          </a:solidFill>
          <a:ln w="12700">
            <a:solidFill>
              <a:srgbClr val="06D6A0"/>
            </a:solidFill>
            <a:prstDash val="solid"/>
          </a:ln>
        </p:spPr>
      </p:sp>
      <p:sp>
        <p:nvSpPr>
          <p:cNvPr id="23" name="Text 21"/>
          <p:cNvSpPr/>
          <p:nvPr/>
        </p:nvSpPr>
        <p:spPr>
          <a:xfrm>
            <a:off x="6254496" y="2194560"/>
            <a:ext cx="1920240" cy="320040"/>
          </a:xfrm>
          <a:prstGeom prst="rect">
            <a:avLst/>
          </a:prstGeom>
          <a:noFill/>
          <a:ln/>
        </p:spPr>
        <p:txBody>
          <a:bodyPr wrap="square" lIns="0" tIns="0" rIns="0" bIns="0" rtlCol="0" anchor="ctr"/>
          <a:lstStyle/>
          <a:p>
            <a:pPr algn="ctr" indent="0" marL="0">
              <a:buNone/>
            </a:pPr>
            <a:r>
              <a:rPr lang="en-US" sz="1000" b="1" dirty="0">
                <a:solidFill>
                  <a:srgbClr val="06D6A0"/>
                </a:solidFill>
              </a:rPr>
              <a:t>⭐ Best Model</a:t>
            </a:r>
            <a:endParaRPr lang="en-US" sz="1000" dirty="0"/>
          </a:p>
        </p:txBody>
      </p:sp>
      <p:sp>
        <p:nvSpPr>
          <p:cNvPr id="24" name="Text 22"/>
          <p:cNvSpPr/>
          <p:nvPr/>
        </p:nvSpPr>
        <p:spPr>
          <a:xfrm>
            <a:off x="6254496" y="2633472"/>
            <a:ext cx="2468880" cy="2011680"/>
          </a:xfrm>
          <a:prstGeom prst="rect">
            <a:avLst/>
          </a:prstGeom>
          <a:noFill/>
          <a:ln/>
        </p:spPr>
        <p:txBody>
          <a:bodyPr wrap="square" rtlCol="0" anchor="ctr"/>
          <a:lstStyle/>
          <a:p>
            <a:pPr marL="342900" indent="-342900">
              <a:spcAft>
                <a:spcPts val="600"/>
              </a:spcAft>
              <a:buSzPct val="100000"/>
              <a:buChar char="•"/>
            </a:pPr>
            <a:r>
              <a:rPr lang="en-US" sz="1050" dirty="0">
                <a:solidFill>
                  <a:srgbClr val="E8F4FD"/>
                </a:solidFill>
              </a:rPr>
              <a:t>Best-in-class for business time-series</a:t>
            </a:r>
            <a:endParaRPr lang="en-US" sz="1050" dirty="0"/>
          </a:p>
          <a:p>
            <a:pPr marL="342900" indent="-342900">
              <a:spcAft>
                <a:spcPts val="600"/>
              </a:spcAft>
              <a:buSzPct val="100000"/>
              <a:buChar char="•"/>
            </a:pPr>
            <a:r>
              <a:rPr lang="en-US" sz="1050" dirty="0">
                <a:solidFill>
                  <a:srgbClr val="E8F4FD"/>
                </a:solidFill>
              </a:rPr>
              <a:t>Handles missing data &amp; outliers</a:t>
            </a:r>
            <a:endParaRPr lang="en-US" sz="1050" dirty="0"/>
          </a:p>
          <a:p>
            <a:pPr marL="342900" indent="-342900">
              <a:spcAft>
                <a:spcPts val="600"/>
              </a:spcAft>
              <a:buSzPct val="100000"/>
              <a:buChar char="•"/>
            </a:pPr>
            <a:r>
              <a:rPr lang="en-US" sz="1050" dirty="0">
                <a:solidFill>
                  <a:srgbClr val="E8F4FD"/>
                </a:solidFill>
              </a:rPr>
              <a:t>Daily &amp; yearly seasonality enabled</a:t>
            </a:r>
            <a:endParaRPr lang="en-US" sz="1050" dirty="0"/>
          </a:p>
          <a:p>
            <a:pPr marL="342900" indent="-342900">
              <a:spcAft>
                <a:spcPts val="600"/>
              </a:spcAft>
              <a:buSzPct val="100000"/>
              <a:buChar char="•"/>
            </a:pPr>
            <a:r>
              <a:rPr lang="en-US" sz="1050" dirty="0">
                <a:solidFill>
                  <a:srgbClr val="E8F4FD"/>
                </a:solidFill>
              </a:rPr>
              <a:t>Primary production model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E45"/>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rPr>
              <a:t>Model Performance Comparison</a:t>
            </a:r>
            <a:endParaRPr lang="en-US" sz="2600" dirty="0"/>
          </a:p>
        </p:txBody>
      </p:sp>
      <p:graphicFrame>
        <p:nvGraphicFramePr>
          <p:cNvPr id="4" name="Chart 0" descr=""/>
          <p:cNvGraphicFramePr/>
          <p:nvPr/>
        </p:nvGraphicFramePr>
        <p:xfrm>
          <a:off x="274320" y="1097280"/>
          <a:ext cx="548640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1097280"/>
            <a:ext cx="2926080" cy="3749040"/>
          </a:xfrm>
          <a:prstGeom prst="rect">
            <a:avLst/>
          </a:prstGeom>
          <a:solidFill>
            <a:srgbClr val="162537"/>
          </a:solidFill>
          <a:ln w="19050">
            <a:solidFill>
              <a:srgbClr val="00B4D8"/>
            </a:solidFill>
            <a:prstDash val="solid"/>
          </a:ln>
          <a:effectLst>
            <a:outerShdw sx="100000" sy="100000" kx="0" ky="0" algn="bl" rotWithShape="0" blurRad="101600" dist="38100" dir="8100000">
              <a:srgbClr val="000000">
                <a:alpha val="25000"/>
              </a:srgbClr>
            </a:outerShdw>
          </a:effectLst>
        </p:spPr>
      </p:sp>
      <p:sp>
        <p:nvSpPr>
          <p:cNvPr id="6" name="Text 3"/>
          <p:cNvSpPr/>
          <p:nvPr/>
        </p:nvSpPr>
        <p:spPr>
          <a:xfrm>
            <a:off x="6126480" y="1261872"/>
            <a:ext cx="2560320" cy="365760"/>
          </a:xfrm>
          <a:prstGeom prst="rect">
            <a:avLst/>
          </a:prstGeom>
          <a:noFill/>
          <a:ln/>
        </p:spPr>
        <p:txBody>
          <a:bodyPr wrap="square" rtlCol="0" anchor="ctr"/>
          <a:lstStyle/>
          <a:p>
            <a:pPr indent="0" marL="0">
              <a:buNone/>
            </a:pPr>
            <a:r>
              <a:rPr lang="en-US" sz="1300" b="1" dirty="0">
                <a:solidFill>
                  <a:srgbClr val="00B4D8"/>
                </a:solidFill>
              </a:rPr>
              <a:t>📊  Error Metrics</a:t>
            </a:r>
            <a:endParaRPr lang="en-US" sz="1300" dirty="0"/>
          </a:p>
        </p:txBody>
      </p:sp>
      <p:sp>
        <p:nvSpPr>
          <p:cNvPr id="7" name="Text 4"/>
          <p:cNvSpPr/>
          <p:nvPr/>
        </p:nvSpPr>
        <p:spPr>
          <a:xfrm>
            <a:off x="6080760" y="1719072"/>
            <a:ext cx="1005840" cy="320040"/>
          </a:xfrm>
          <a:prstGeom prst="rect">
            <a:avLst/>
          </a:prstGeom>
          <a:noFill/>
          <a:ln/>
        </p:spPr>
        <p:txBody>
          <a:bodyPr wrap="square" rtlCol="0" anchor="ctr"/>
          <a:lstStyle/>
          <a:p>
            <a:pPr indent="0" marL="0">
              <a:buNone/>
            </a:pPr>
            <a:r>
              <a:rPr lang="en-US" sz="1000" b="1" dirty="0">
                <a:solidFill>
                  <a:srgbClr val="8DA9C4"/>
                </a:solidFill>
              </a:rPr>
              <a:t>Model</a:t>
            </a:r>
            <a:endParaRPr lang="en-US" sz="1000" dirty="0"/>
          </a:p>
        </p:txBody>
      </p:sp>
      <p:sp>
        <p:nvSpPr>
          <p:cNvPr id="8" name="Text 5"/>
          <p:cNvSpPr/>
          <p:nvPr/>
        </p:nvSpPr>
        <p:spPr>
          <a:xfrm>
            <a:off x="7086600" y="1719072"/>
            <a:ext cx="822960" cy="320040"/>
          </a:xfrm>
          <a:prstGeom prst="rect">
            <a:avLst/>
          </a:prstGeom>
          <a:noFill/>
          <a:ln/>
        </p:spPr>
        <p:txBody>
          <a:bodyPr wrap="square" rtlCol="0" anchor="ctr"/>
          <a:lstStyle/>
          <a:p>
            <a:pPr algn="ctr" indent="0" marL="0">
              <a:buNone/>
            </a:pPr>
            <a:r>
              <a:rPr lang="en-US" sz="1000" b="1" dirty="0">
                <a:solidFill>
                  <a:srgbClr val="FF6B6B"/>
                </a:solidFill>
              </a:rPr>
              <a:t>MAE</a:t>
            </a:r>
            <a:endParaRPr lang="en-US" sz="1000" dirty="0"/>
          </a:p>
        </p:txBody>
      </p:sp>
      <p:sp>
        <p:nvSpPr>
          <p:cNvPr id="9" name="Text 6"/>
          <p:cNvSpPr/>
          <p:nvPr/>
        </p:nvSpPr>
        <p:spPr>
          <a:xfrm>
            <a:off x="7909560" y="1719072"/>
            <a:ext cx="822960" cy="320040"/>
          </a:xfrm>
          <a:prstGeom prst="rect">
            <a:avLst/>
          </a:prstGeom>
          <a:noFill/>
          <a:ln/>
        </p:spPr>
        <p:txBody>
          <a:bodyPr wrap="square" rtlCol="0" anchor="ctr"/>
          <a:lstStyle/>
          <a:p>
            <a:pPr algn="ctr" indent="0" marL="0">
              <a:buNone/>
            </a:pPr>
            <a:r>
              <a:rPr lang="en-US" sz="1000" b="1" dirty="0">
                <a:solidFill>
                  <a:srgbClr val="00B4D8"/>
                </a:solidFill>
              </a:rPr>
              <a:t>RMSE</a:t>
            </a:r>
            <a:endParaRPr lang="en-US" sz="1000" dirty="0"/>
          </a:p>
        </p:txBody>
      </p:sp>
      <p:sp>
        <p:nvSpPr>
          <p:cNvPr id="10" name="Shape 7"/>
          <p:cNvSpPr/>
          <p:nvPr/>
        </p:nvSpPr>
        <p:spPr>
          <a:xfrm>
            <a:off x="6035040" y="2029968"/>
            <a:ext cx="2697480" cy="27432"/>
          </a:xfrm>
          <a:prstGeom prst="rect">
            <a:avLst/>
          </a:prstGeom>
          <a:solidFill>
            <a:srgbClr val="8DA9C4"/>
          </a:solidFill>
          <a:ln w="12700">
            <a:solidFill>
              <a:srgbClr val="8DA9C4"/>
            </a:solidFill>
            <a:prstDash val="solid"/>
          </a:ln>
        </p:spPr>
      </p:sp>
      <p:sp>
        <p:nvSpPr>
          <p:cNvPr id="11" name="Text 8"/>
          <p:cNvSpPr/>
          <p:nvPr/>
        </p:nvSpPr>
        <p:spPr>
          <a:xfrm>
            <a:off x="6080760" y="2148840"/>
            <a:ext cx="1005840" cy="502920"/>
          </a:xfrm>
          <a:prstGeom prst="rect">
            <a:avLst/>
          </a:prstGeom>
          <a:noFill/>
          <a:ln/>
        </p:spPr>
        <p:txBody>
          <a:bodyPr wrap="square" rtlCol="0" anchor="ctr"/>
          <a:lstStyle/>
          <a:p>
            <a:pPr indent="0" marL="0">
              <a:buNone/>
            </a:pPr>
            <a:r>
              <a:rPr lang="en-US" sz="1100" dirty="0">
                <a:solidFill>
                  <a:srgbClr val="E8F4FD"/>
                </a:solidFill>
              </a:rPr>
              <a:t>ARIMA</a:t>
            </a:r>
            <a:endParaRPr lang="en-US" sz="1100" dirty="0"/>
          </a:p>
        </p:txBody>
      </p:sp>
      <p:sp>
        <p:nvSpPr>
          <p:cNvPr id="12" name="Text 9"/>
          <p:cNvSpPr/>
          <p:nvPr/>
        </p:nvSpPr>
        <p:spPr>
          <a:xfrm>
            <a:off x="7086600" y="2148840"/>
            <a:ext cx="822960" cy="502920"/>
          </a:xfrm>
          <a:prstGeom prst="rect">
            <a:avLst/>
          </a:prstGeom>
          <a:noFill/>
          <a:ln/>
        </p:spPr>
        <p:txBody>
          <a:bodyPr wrap="square" rtlCol="0" anchor="ctr"/>
          <a:lstStyle/>
          <a:p>
            <a:pPr algn="ctr" indent="0" marL="0">
              <a:buNone/>
            </a:pPr>
            <a:r>
              <a:rPr lang="en-US" sz="1100" dirty="0">
                <a:solidFill>
                  <a:srgbClr val="E8F4FD"/>
                </a:solidFill>
              </a:rPr>
              <a:t>42.5</a:t>
            </a:r>
            <a:endParaRPr lang="en-US" sz="1100" dirty="0"/>
          </a:p>
        </p:txBody>
      </p:sp>
      <p:sp>
        <p:nvSpPr>
          <p:cNvPr id="13" name="Text 10"/>
          <p:cNvSpPr/>
          <p:nvPr/>
        </p:nvSpPr>
        <p:spPr>
          <a:xfrm>
            <a:off x="7909560" y="2148840"/>
            <a:ext cx="822960" cy="502920"/>
          </a:xfrm>
          <a:prstGeom prst="rect">
            <a:avLst/>
          </a:prstGeom>
          <a:noFill/>
          <a:ln/>
        </p:spPr>
        <p:txBody>
          <a:bodyPr wrap="square" rtlCol="0" anchor="ctr"/>
          <a:lstStyle/>
          <a:p>
            <a:pPr algn="ctr" indent="0" marL="0">
              <a:buNone/>
            </a:pPr>
            <a:r>
              <a:rPr lang="en-US" sz="1100" dirty="0">
                <a:solidFill>
                  <a:srgbClr val="E8F4FD"/>
                </a:solidFill>
              </a:rPr>
              <a:t>55.3</a:t>
            </a:r>
            <a:endParaRPr lang="en-US" sz="1100" dirty="0"/>
          </a:p>
        </p:txBody>
      </p:sp>
      <p:sp>
        <p:nvSpPr>
          <p:cNvPr id="14" name="Text 11"/>
          <p:cNvSpPr/>
          <p:nvPr/>
        </p:nvSpPr>
        <p:spPr>
          <a:xfrm>
            <a:off x="6080760" y="2743200"/>
            <a:ext cx="1005840" cy="502920"/>
          </a:xfrm>
          <a:prstGeom prst="rect">
            <a:avLst/>
          </a:prstGeom>
          <a:noFill/>
          <a:ln/>
        </p:spPr>
        <p:txBody>
          <a:bodyPr wrap="square" rtlCol="0" anchor="ctr"/>
          <a:lstStyle/>
          <a:p>
            <a:pPr indent="0" marL="0">
              <a:buNone/>
            </a:pPr>
            <a:r>
              <a:rPr lang="en-US" sz="1100" dirty="0">
                <a:solidFill>
                  <a:srgbClr val="E8F4FD"/>
                </a:solidFill>
              </a:rPr>
              <a:t>SARIMA</a:t>
            </a:r>
            <a:endParaRPr lang="en-US" sz="1100" dirty="0"/>
          </a:p>
        </p:txBody>
      </p:sp>
      <p:sp>
        <p:nvSpPr>
          <p:cNvPr id="15" name="Text 12"/>
          <p:cNvSpPr/>
          <p:nvPr/>
        </p:nvSpPr>
        <p:spPr>
          <a:xfrm>
            <a:off x="7086600" y="2743200"/>
            <a:ext cx="822960" cy="502920"/>
          </a:xfrm>
          <a:prstGeom prst="rect">
            <a:avLst/>
          </a:prstGeom>
          <a:noFill/>
          <a:ln/>
        </p:spPr>
        <p:txBody>
          <a:bodyPr wrap="square" rtlCol="0" anchor="ctr"/>
          <a:lstStyle/>
          <a:p>
            <a:pPr algn="ctr" indent="0" marL="0">
              <a:buNone/>
            </a:pPr>
            <a:r>
              <a:rPr lang="en-US" sz="1100" dirty="0">
                <a:solidFill>
                  <a:srgbClr val="E8F4FD"/>
                </a:solidFill>
              </a:rPr>
              <a:t>35.2</a:t>
            </a:r>
            <a:endParaRPr lang="en-US" sz="1100" dirty="0"/>
          </a:p>
        </p:txBody>
      </p:sp>
      <p:sp>
        <p:nvSpPr>
          <p:cNvPr id="16" name="Text 13"/>
          <p:cNvSpPr/>
          <p:nvPr/>
        </p:nvSpPr>
        <p:spPr>
          <a:xfrm>
            <a:off x="7909560" y="2743200"/>
            <a:ext cx="822960" cy="502920"/>
          </a:xfrm>
          <a:prstGeom prst="rect">
            <a:avLst/>
          </a:prstGeom>
          <a:noFill/>
          <a:ln/>
        </p:spPr>
        <p:txBody>
          <a:bodyPr wrap="square" rtlCol="0" anchor="ctr"/>
          <a:lstStyle/>
          <a:p>
            <a:pPr algn="ctr" indent="0" marL="0">
              <a:buNone/>
            </a:pPr>
            <a:r>
              <a:rPr lang="en-US" sz="1100" dirty="0">
                <a:solidFill>
                  <a:srgbClr val="E8F4FD"/>
                </a:solidFill>
              </a:rPr>
              <a:t>46.8</a:t>
            </a:r>
            <a:endParaRPr lang="en-US" sz="1100" dirty="0"/>
          </a:p>
        </p:txBody>
      </p:sp>
      <p:sp>
        <p:nvSpPr>
          <p:cNvPr id="17" name="Shape 14"/>
          <p:cNvSpPr/>
          <p:nvPr/>
        </p:nvSpPr>
        <p:spPr>
          <a:xfrm>
            <a:off x="6035040" y="3337560"/>
            <a:ext cx="2697480" cy="502920"/>
          </a:xfrm>
          <a:prstGeom prst="rect">
            <a:avLst/>
          </a:prstGeom>
          <a:solidFill>
            <a:srgbClr val="000000"/>
          </a:solidFill>
          <a:ln w="6350">
            <a:solidFill>
              <a:srgbClr val="06D6A0"/>
            </a:solidFill>
            <a:prstDash val="solid"/>
          </a:ln>
        </p:spPr>
      </p:sp>
      <p:sp>
        <p:nvSpPr>
          <p:cNvPr id="18" name="Text 15"/>
          <p:cNvSpPr/>
          <p:nvPr/>
        </p:nvSpPr>
        <p:spPr>
          <a:xfrm>
            <a:off x="6080760" y="3337560"/>
            <a:ext cx="1005840" cy="502920"/>
          </a:xfrm>
          <a:prstGeom prst="rect">
            <a:avLst/>
          </a:prstGeom>
          <a:noFill/>
          <a:ln/>
        </p:spPr>
        <p:txBody>
          <a:bodyPr wrap="square" rtlCol="0" anchor="ctr"/>
          <a:lstStyle/>
          <a:p>
            <a:pPr indent="0" marL="0">
              <a:buNone/>
            </a:pPr>
            <a:r>
              <a:rPr lang="en-US" sz="1100" b="1" dirty="0">
                <a:solidFill>
                  <a:srgbClr val="06D6A0"/>
                </a:solidFill>
              </a:rPr>
              <a:t>Prophet ⭐</a:t>
            </a:r>
            <a:endParaRPr lang="en-US" sz="1100" dirty="0"/>
          </a:p>
        </p:txBody>
      </p:sp>
      <p:sp>
        <p:nvSpPr>
          <p:cNvPr id="19" name="Text 16"/>
          <p:cNvSpPr/>
          <p:nvPr/>
        </p:nvSpPr>
        <p:spPr>
          <a:xfrm>
            <a:off x="7086600" y="3337560"/>
            <a:ext cx="822960" cy="502920"/>
          </a:xfrm>
          <a:prstGeom prst="rect">
            <a:avLst/>
          </a:prstGeom>
          <a:noFill/>
          <a:ln/>
        </p:spPr>
        <p:txBody>
          <a:bodyPr wrap="square" rtlCol="0" anchor="ctr"/>
          <a:lstStyle/>
          <a:p>
            <a:pPr algn="ctr" indent="0" marL="0">
              <a:buNone/>
            </a:pPr>
            <a:r>
              <a:rPr lang="en-US" sz="1100" b="1" dirty="0">
                <a:solidFill>
                  <a:srgbClr val="06D6A0"/>
                </a:solidFill>
              </a:rPr>
              <a:t>18.7</a:t>
            </a:r>
            <a:endParaRPr lang="en-US" sz="1100" dirty="0"/>
          </a:p>
        </p:txBody>
      </p:sp>
      <p:sp>
        <p:nvSpPr>
          <p:cNvPr id="20" name="Text 17"/>
          <p:cNvSpPr/>
          <p:nvPr/>
        </p:nvSpPr>
        <p:spPr>
          <a:xfrm>
            <a:off x="7909560" y="3337560"/>
            <a:ext cx="822960" cy="502920"/>
          </a:xfrm>
          <a:prstGeom prst="rect">
            <a:avLst/>
          </a:prstGeom>
          <a:noFill/>
          <a:ln/>
        </p:spPr>
        <p:txBody>
          <a:bodyPr wrap="square" rtlCol="0" anchor="ctr"/>
          <a:lstStyle/>
          <a:p>
            <a:pPr algn="ctr" indent="0" marL="0">
              <a:buNone/>
            </a:pPr>
            <a:r>
              <a:rPr lang="en-US" sz="1100" b="1" dirty="0">
                <a:solidFill>
                  <a:srgbClr val="06D6A0"/>
                </a:solidFill>
              </a:rPr>
              <a:t>24.1</a:t>
            </a:r>
            <a:endParaRPr lang="en-US" sz="1100" dirty="0"/>
          </a:p>
        </p:txBody>
      </p:sp>
      <p:sp>
        <p:nvSpPr>
          <p:cNvPr id="21" name="Text 18"/>
          <p:cNvSpPr/>
          <p:nvPr/>
        </p:nvSpPr>
        <p:spPr>
          <a:xfrm>
            <a:off x="6080760" y="4069080"/>
            <a:ext cx="2651760" cy="594360"/>
          </a:xfrm>
          <a:prstGeom prst="rect">
            <a:avLst/>
          </a:prstGeom>
          <a:noFill/>
          <a:ln/>
        </p:spPr>
        <p:txBody>
          <a:bodyPr wrap="square" rtlCol="0" anchor="ctr"/>
          <a:lstStyle/>
          <a:p>
            <a:pPr indent="0" marL="0">
              <a:buNone/>
            </a:pPr>
            <a:r>
              <a:rPr lang="en-US" sz="1000" i="1" dirty="0">
                <a:solidFill>
                  <a:srgbClr val="8DA9C4"/>
                </a:solidFill>
              </a:rPr>
              <a:t>Prophet wins with lowest MAE &amp; RMSE — selected as primary forecasting engine.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E45"/>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rPr>
              <a:t>Dashboard Features</a:t>
            </a:r>
            <a:endParaRPr lang="en-US" sz="2600" dirty="0"/>
          </a:p>
        </p:txBody>
      </p:sp>
      <p:sp>
        <p:nvSpPr>
          <p:cNvPr id="4" name="Shape 2"/>
          <p:cNvSpPr/>
          <p:nvPr/>
        </p:nvSpPr>
        <p:spPr>
          <a:xfrm>
            <a:off x="274320" y="1143000"/>
            <a:ext cx="2743200" cy="1691640"/>
          </a:xfrm>
          <a:prstGeom prst="rect">
            <a:avLst/>
          </a:prstGeom>
          <a:solidFill>
            <a:srgbClr val="162537"/>
          </a:solidFill>
          <a:ln w="12700">
            <a:solidFill>
              <a:srgbClr val="00B4D8"/>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411480" y="1234440"/>
            <a:ext cx="2468880" cy="411480"/>
          </a:xfrm>
          <a:prstGeom prst="rect">
            <a:avLst/>
          </a:prstGeom>
          <a:noFill/>
          <a:ln/>
        </p:spPr>
        <p:txBody>
          <a:bodyPr wrap="square" rtlCol="0" anchor="ctr"/>
          <a:lstStyle/>
          <a:p>
            <a:pPr indent="0" marL="0">
              <a:buNone/>
            </a:pPr>
            <a:r>
              <a:rPr lang="en-US" sz="1200" b="1" dirty="0">
                <a:solidFill>
                  <a:srgbClr val="00B4D8"/>
                </a:solidFill>
              </a:rPr>
              <a:t>📈  Sales Trend Analysis</a:t>
            </a:r>
            <a:endParaRPr lang="en-US" sz="1200" dirty="0"/>
          </a:p>
        </p:txBody>
      </p:sp>
      <p:sp>
        <p:nvSpPr>
          <p:cNvPr id="6" name="Text 4"/>
          <p:cNvSpPr/>
          <p:nvPr/>
        </p:nvSpPr>
        <p:spPr>
          <a:xfrm>
            <a:off x="411480" y="1645920"/>
            <a:ext cx="2468880" cy="1051560"/>
          </a:xfrm>
          <a:prstGeom prst="rect">
            <a:avLst/>
          </a:prstGeom>
          <a:noFill/>
          <a:ln/>
        </p:spPr>
        <p:txBody>
          <a:bodyPr wrap="square" rtlCol="0" anchor="ctr"/>
          <a:lstStyle/>
          <a:p>
            <a:pPr indent="0" marL="0">
              <a:buNone/>
            </a:pPr>
            <a:r>
              <a:rPr lang="en-US" sz="1050" dirty="0">
                <a:solidFill>
                  <a:srgbClr val="E8F4FD"/>
                </a:solidFill>
              </a:rPr>
              <a:t>Interactive time-series charts showing historical sales trends for each product with date filtering</a:t>
            </a:r>
            <a:endParaRPr lang="en-US" sz="1050" dirty="0"/>
          </a:p>
        </p:txBody>
      </p:sp>
      <p:sp>
        <p:nvSpPr>
          <p:cNvPr id="7" name="Shape 5"/>
          <p:cNvSpPr/>
          <p:nvPr/>
        </p:nvSpPr>
        <p:spPr>
          <a:xfrm>
            <a:off x="3200400" y="1143000"/>
            <a:ext cx="2743200" cy="1691640"/>
          </a:xfrm>
          <a:prstGeom prst="rect">
            <a:avLst/>
          </a:prstGeom>
          <a:solidFill>
            <a:srgbClr val="162537"/>
          </a:solidFill>
          <a:ln w="12700">
            <a:solidFill>
              <a:srgbClr val="00B4D8"/>
            </a:solidFill>
            <a:prstDash val="solid"/>
          </a:ln>
          <a:effectLst>
            <a:outerShdw sx="100000" sy="100000" kx="0" ky="0" algn="bl" rotWithShape="0" blurRad="101600" dist="38100" dir="8100000">
              <a:srgbClr val="000000">
                <a:alpha val="25000"/>
              </a:srgbClr>
            </a:outerShdw>
          </a:effectLst>
        </p:spPr>
      </p:sp>
      <p:sp>
        <p:nvSpPr>
          <p:cNvPr id="8" name="Text 6"/>
          <p:cNvSpPr/>
          <p:nvPr/>
        </p:nvSpPr>
        <p:spPr>
          <a:xfrm>
            <a:off x="3337560" y="1234440"/>
            <a:ext cx="2468880" cy="411480"/>
          </a:xfrm>
          <a:prstGeom prst="rect">
            <a:avLst/>
          </a:prstGeom>
          <a:noFill/>
          <a:ln/>
        </p:spPr>
        <p:txBody>
          <a:bodyPr wrap="square" rtlCol="0" anchor="ctr"/>
          <a:lstStyle/>
          <a:p>
            <a:pPr indent="0" marL="0">
              <a:buNone/>
            </a:pPr>
            <a:r>
              <a:rPr lang="en-US" sz="1200" b="1" dirty="0">
                <a:solidFill>
                  <a:srgbClr val="00B4D8"/>
                </a:solidFill>
              </a:rPr>
              <a:t>🔮  Demand Forecasting</a:t>
            </a:r>
            <a:endParaRPr lang="en-US" sz="1200" dirty="0"/>
          </a:p>
        </p:txBody>
      </p:sp>
      <p:sp>
        <p:nvSpPr>
          <p:cNvPr id="9" name="Text 7"/>
          <p:cNvSpPr/>
          <p:nvPr/>
        </p:nvSpPr>
        <p:spPr>
          <a:xfrm>
            <a:off x="3337560" y="1645920"/>
            <a:ext cx="2468880" cy="1051560"/>
          </a:xfrm>
          <a:prstGeom prst="rect">
            <a:avLst/>
          </a:prstGeom>
          <a:noFill/>
          <a:ln/>
        </p:spPr>
        <p:txBody>
          <a:bodyPr wrap="square" rtlCol="0" anchor="ctr"/>
          <a:lstStyle/>
          <a:p>
            <a:pPr indent="0" marL="0">
              <a:buNone/>
            </a:pPr>
            <a:r>
              <a:rPr lang="en-US" sz="1050" dirty="0">
                <a:solidFill>
                  <a:srgbClr val="E8F4FD"/>
                </a:solidFill>
              </a:rPr>
              <a:t>Prophet-powered 7–30 day demand forecast with adjustable forecast window via sidebar slider</a:t>
            </a:r>
            <a:endParaRPr lang="en-US" sz="1050" dirty="0"/>
          </a:p>
        </p:txBody>
      </p:sp>
      <p:sp>
        <p:nvSpPr>
          <p:cNvPr id="10" name="Shape 8"/>
          <p:cNvSpPr/>
          <p:nvPr/>
        </p:nvSpPr>
        <p:spPr>
          <a:xfrm>
            <a:off x="6126480" y="1143000"/>
            <a:ext cx="2743200" cy="1691640"/>
          </a:xfrm>
          <a:prstGeom prst="rect">
            <a:avLst/>
          </a:prstGeom>
          <a:solidFill>
            <a:srgbClr val="162537"/>
          </a:solidFill>
          <a:ln w="12700">
            <a:solidFill>
              <a:srgbClr val="00B4D8"/>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6263640" y="1234440"/>
            <a:ext cx="2468880" cy="411480"/>
          </a:xfrm>
          <a:prstGeom prst="rect">
            <a:avLst/>
          </a:prstGeom>
          <a:noFill/>
          <a:ln/>
        </p:spPr>
        <p:txBody>
          <a:bodyPr wrap="square" rtlCol="0" anchor="ctr"/>
          <a:lstStyle/>
          <a:p>
            <a:pPr indent="0" marL="0">
              <a:buNone/>
            </a:pPr>
            <a:r>
              <a:rPr lang="en-US" sz="1200" b="1" dirty="0">
                <a:solidFill>
                  <a:srgbClr val="00B4D8"/>
                </a:solidFill>
              </a:rPr>
              <a:t>📊  EDA Visualizations</a:t>
            </a:r>
            <a:endParaRPr lang="en-US" sz="1200" dirty="0"/>
          </a:p>
        </p:txBody>
      </p:sp>
      <p:sp>
        <p:nvSpPr>
          <p:cNvPr id="12" name="Text 10"/>
          <p:cNvSpPr/>
          <p:nvPr/>
        </p:nvSpPr>
        <p:spPr>
          <a:xfrm>
            <a:off x="6263640" y="1645920"/>
            <a:ext cx="2468880" cy="1051560"/>
          </a:xfrm>
          <a:prstGeom prst="rect">
            <a:avLst/>
          </a:prstGeom>
          <a:noFill/>
          <a:ln/>
        </p:spPr>
        <p:txBody>
          <a:bodyPr wrap="square" rtlCol="0" anchor="ctr"/>
          <a:lstStyle/>
          <a:p>
            <a:pPr indent="0" marL="0">
              <a:buNone/>
            </a:pPr>
            <a:r>
              <a:rPr lang="en-US" sz="1050" dirty="0">
                <a:solidFill>
                  <a:srgbClr val="E8F4FD"/>
                </a:solidFill>
              </a:rPr>
              <a:t>Product-wise bars, monthly seasonality lines, temperature scatter plots, and festival impact charts</a:t>
            </a:r>
            <a:endParaRPr lang="en-US" sz="1050" dirty="0"/>
          </a:p>
        </p:txBody>
      </p:sp>
      <p:sp>
        <p:nvSpPr>
          <p:cNvPr id="13" name="Shape 11"/>
          <p:cNvSpPr/>
          <p:nvPr/>
        </p:nvSpPr>
        <p:spPr>
          <a:xfrm>
            <a:off x="274320" y="3063240"/>
            <a:ext cx="2743200" cy="1691640"/>
          </a:xfrm>
          <a:prstGeom prst="rect">
            <a:avLst/>
          </a:prstGeom>
          <a:solidFill>
            <a:srgbClr val="162537"/>
          </a:solidFill>
          <a:ln w="12700">
            <a:solidFill>
              <a:srgbClr val="00B4D8"/>
            </a:solidFill>
            <a:prstDash val="solid"/>
          </a:ln>
          <a:effectLst>
            <a:outerShdw sx="100000" sy="100000" kx="0" ky="0" algn="bl" rotWithShape="0" blurRad="101600" dist="38100" dir="8100000">
              <a:srgbClr val="000000">
                <a:alpha val="25000"/>
              </a:srgbClr>
            </a:outerShdw>
          </a:effectLst>
        </p:spPr>
      </p:sp>
      <p:sp>
        <p:nvSpPr>
          <p:cNvPr id="14" name="Text 12"/>
          <p:cNvSpPr/>
          <p:nvPr/>
        </p:nvSpPr>
        <p:spPr>
          <a:xfrm>
            <a:off x="411480" y="3154680"/>
            <a:ext cx="2468880" cy="411480"/>
          </a:xfrm>
          <a:prstGeom prst="rect">
            <a:avLst/>
          </a:prstGeom>
          <a:noFill/>
          <a:ln/>
        </p:spPr>
        <p:txBody>
          <a:bodyPr wrap="square" rtlCol="0" anchor="ctr"/>
          <a:lstStyle/>
          <a:p>
            <a:pPr indent="0" marL="0">
              <a:buNone/>
            </a:pPr>
            <a:r>
              <a:rPr lang="en-US" sz="1200" b="1" dirty="0">
                <a:solidFill>
                  <a:srgbClr val="00B4D8"/>
                </a:solidFill>
              </a:rPr>
              <a:t>🏆  Model Benchmarking</a:t>
            </a:r>
            <a:endParaRPr lang="en-US" sz="1200" dirty="0"/>
          </a:p>
        </p:txBody>
      </p:sp>
      <p:sp>
        <p:nvSpPr>
          <p:cNvPr id="15" name="Text 13"/>
          <p:cNvSpPr/>
          <p:nvPr/>
        </p:nvSpPr>
        <p:spPr>
          <a:xfrm>
            <a:off x="411480" y="3566160"/>
            <a:ext cx="2468880" cy="1051560"/>
          </a:xfrm>
          <a:prstGeom prst="rect">
            <a:avLst/>
          </a:prstGeom>
          <a:noFill/>
          <a:ln/>
        </p:spPr>
        <p:txBody>
          <a:bodyPr wrap="square" rtlCol="0" anchor="ctr"/>
          <a:lstStyle/>
          <a:p>
            <a:pPr indent="0" marL="0">
              <a:buNone/>
            </a:pPr>
            <a:r>
              <a:rPr lang="en-US" sz="1050" dirty="0">
                <a:solidFill>
                  <a:srgbClr val="E8F4FD"/>
                </a:solidFill>
              </a:rPr>
              <a:t>Side-by-side MAE/RMSE comparison of ARIMA, SARIMA &amp; Prophet — choose the best model per product</a:t>
            </a:r>
            <a:endParaRPr lang="en-US" sz="1050" dirty="0"/>
          </a:p>
        </p:txBody>
      </p:sp>
      <p:sp>
        <p:nvSpPr>
          <p:cNvPr id="16" name="Shape 14"/>
          <p:cNvSpPr/>
          <p:nvPr/>
        </p:nvSpPr>
        <p:spPr>
          <a:xfrm>
            <a:off x="3200400" y="3063240"/>
            <a:ext cx="2743200" cy="1691640"/>
          </a:xfrm>
          <a:prstGeom prst="rect">
            <a:avLst/>
          </a:prstGeom>
          <a:solidFill>
            <a:srgbClr val="162537"/>
          </a:solidFill>
          <a:ln w="12700">
            <a:solidFill>
              <a:srgbClr val="00B4D8"/>
            </a:solidFill>
            <a:prstDash val="solid"/>
          </a:ln>
          <a:effectLst>
            <a:outerShdw sx="100000" sy="100000" kx="0" ky="0" algn="bl" rotWithShape="0" blurRad="101600" dist="38100" dir="8100000">
              <a:srgbClr val="000000">
                <a:alpha val="25000"/>
              </a:srgbClr>
            </a:outerShdw>
          </a:effectLst>
        </p:spPr>
      </p:sp>
      <p:sp>
        <p:nvSpPr>
          <p:cNvPr id="17" name="Text 15"/>
          <p:cNvSpPr/>
          <p:nvPr/>
        </p:nvSpPr>
        <p:spPr>
          <a:xfrm>
            <a:off x="3337560" y="3154680"/>
            <a:ext cx="2468880" cy="411480"/>
          </a:xfrm>
          <a:prstGeom prst="rect">
            <a:avLst/>
          </a:prstGeom>
          <a:noFill/>
          <a:ln/>
        </p:spPr>
        <p:txBody>
          <a:bodyPr wrap="square" rtlCol="0" anchor="ctr"/>
          <a:lstStyle/>
          <a:p>
            <a:pPr indent="0" marL="0">
              <a:buNone/>
            </a:pPr>
            <a:r>
              <a:rPr lang="en-US" sz="1200" b="1" dirty="0">
                <a:solidFill>
                  <a:srgbClr val="00B4D8"/>
                </a:solidFill>
              </a:rPr>
              <a:t>⚠️  Demand Alerts</a:t>
            </a:r>
            <a:endParaRPr lang="en-US" sz="1200" dirty="0"/>
          </a:p>
        </p:txBody>
      </p:sp>
      <p:sp>
        <p:nvSpPr>
          <p:cNvPr id="18" name="Text 16"/>
          <p:cNvSpPr/>
          <p:nvPr/>
        </p:nvSpPr>
        <p:spPr>
          <a:xfrm>
            <a:off x="3337560" y="3566160"/>
            <a:ext cx="2468880" cy="1051560"/>
          </a:xfrm>
          <a:prstGeom prst="rect">
            <a:avLst/>
          </a:prstGeom>
          <a:noFill/>
          <a:ln/>
        </p:spPr>
        <p:txBody>
          <a:bodyPr wrap="square" rtlCol="0" anchor="ctr"/>
          <a:lstStyle/>
          <a:p>
            <a:pPr indent="0" marL="0">
              <a:buNone/>
            </a:pPr>
            <a:r>
              <a:rPr lang="en-US" sz="1050" dirty="0">
                <a:solidFill>
                  <a:srgbClr val="E8F4FD"/>
                </a:solidFill>
              </a:rPr>
              <a:t>Automated alerts when predicted demand exceeds threshold — helps plan procurement in advance</a:t>
            </a:r>
            <a:endParaRPr lang="en-US" sz="1050" dirty="0"/>
          </a:p>
        </p:txBody>
      </p:sp>
      <p:sp>
        <p:nvSpPr>
          <p:cNvPr id="19" name="Shape 17"/>
          <p:cNvSpPr/>
          <p:nvPr/>
        </p:nvSpPr>
        <p:spPr>
          <a:xfrm>
            <a:off x="6126480" y="3063240"/>
            <a:ext cx="2743200" cy="1691640"/>
          </a:xfrm>
          <a:prstGeom prst="rect">
            <a:avLst/>
          </a:prstGeom>
          <a:solidFill>
            <a:srgbClr val="162537"/>
          </a:solidFill>
          <a:ln w="12700">
            <a:solidFill>
              <a:srgbClr val="00B4D8"/>
            </a:solidFill>
            <a:prstDash val="solid"/>
          </a:ln>
          <a:effectLst>
            <a:outerShdw sx="100000" sy="100000" kx="0" ky="0" algn="bl" rotWithShape="0" blurRad="101600" dist="38100" dir="8100000">
              <a:srgbClr val="000000">
                <a:alpha val="25000"/>
              </a:srgbClr>
            </a:outerShdw>
          </a:effectLst>
        </p:spPr>
      </p:sp>
      <p:sp>
        <p:nvSpPr>
          <p:cNvPr id="20" name="Text 18"/>
          <p:cNvSpPr/>
          <p:nvPr/>
        </p:nvSpPr>
        <p:spPr>
          <a:xfrm>
            <a:off x="6263640" y="3154680"/>
            <a:ext cx="2468880" cy="411480"/>
          </a:xfrm>
          <a:prstGeom prst="rect">
            <a:avLst/>
          </a:prstGeom>
          <a:noFill/>
          <a:ln/>
        </p:spPr>
        <p:txBody>
          <a:bodyPr wrap="square" rtlCol="0" anchor="ctr"/>
          <a:lstStyle/>
          <a:p>
            <a:pPr indent="0" marL="0">
              <a:buNone/>
            </a:pPr>
            <a:r>
              <a:rPr lang="en-US" sz="1200" b="1" dirty="0">
                <a:solidFill>
                  <a:srgbClr val="00B4D8"/>
                </a:solidFill>
              </a:rPr>
              <a:t>📥  CSV Export</a:t>
            </a:r>
            <a:endParaRPr lang="en-US" sz="1200" dirty="0"/>
          </a:p>
        </p:txBody>
      </p:sp>
      <p:sp>
        <p:nvSpPr>
          <p:cNvPr id="21" name="Text 19"/>
          <p:cNvSpPr/>
          <p:nvPr/>
        </p:nvSpPr>
        <p:spPr>
          <a:xfrm>
            <a:off x="6263640" y="3566160"/>
            <a:ext cx="2468880" cy="1051560"/>
          </a:xfrm>
          <a:prstGeom prst="rect">
            <a:avLst/>
          </a:prstGeom>
          <a:noFill/>
          <a:ln/>
        </p:spPr>
        <p:txBody>
          <a:bodyPr wrap="square" rtlCol="0" anchor="ctr"/>
          <a:lstStyle/>
          <a:p>
            <a:pPr indent="0" marL="0">
              <a:buNone/>
            </a:pPr>
            <a:r>
              <a:rPr lang="en-US" sz="1050" dirty="0">
                <a:solidFill>
                  <a:srgbClr val="E8F4FD"/>
                </a:solidFill>
              </a:rPr>
              <a:t>One-click download of forecasted demand data for use in supply chain and inventory planning tools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5943600" y="1828800"/>
            <a:ext cx="4572000" cy="4572000"/>
          </a:xfrm>
          <a:prstGeom prst="ellipse">
            <a:avLst/>
          </a:prstGeom>
          <a:solidFill>
            <a:srgbClr val="023E8A">
              <a:alpha val="30000"/>
            </a:srgbClr>
          </a:solidFill>
          <a:ln w="12700">
            <a:solidFill>
              <a:srgbClr val="023E8A"/>
            </a:solidFill>
            <a:prstDash val="solid"/>
          </a:ln>
        </p:spPr>
      </p:sp>
      <p:sp>
        <p:nvSpPr>
          <p:cNvPr id="3" name="Shape 1"/>
          <p:cNvSpPr/>
          <p:nvPr/>
        </p:nvSpPr>
        <p:spPr>
          <a:xfrm>
            <a:off x="0" y="0"/>
            <a:ext cx="9144000" cy="914400"/>
          </a:xfrm>
          <a:prstGeom prst="rect">
            <a:avLst/>
          </a:prstGeom>
          <a:solidFill>
            <a:srgbClr val="1A2E45"/>
          </a:solidFill>
          <a:ln w="12700">
            <a:solidFill>
              <a:srgbClr val="1A2E45"/>
            </a:solidFill>
            <a:prstDash val="solid"/>
          </a:ln>
        </p:spPr>
      </p:sp>
      <p:sp>
        <p:nvSpPr>
          <p:cNvPr id="4" name="Text 2"/>
          <p:cNvSpPr/>
          <p:nvPr/>
        </p:nvSpPr>
        <p:spPr>
          <a:xfrm>
            <a:off x="457200" y="0"/>
            <a:ext cx="8229600" cy="914400"/>
          </a:xfrm>
          <a:prstGeom prst="rect">
            <a:avLst/>
          </a:prstGeom>
          <a:noFill/>
          <a:ln/>
        </p:spPr>
        <p:txBody>
          <a:bodyPr wrap="square" rtlCol="0" anchor="ctr"/>
          <a:lstStyle/>
          <a:p>
            <a:pPr indent="0" marL="0">
              <a:buNone/>
            </a:pPr>
            <a:r>
              <a:rPr lang="en-US" sz="2600" b="1" dirty="0">
                <a:solidFill>
                  <a:srgbClr val="FFFFFF"/>
                </a:solidFill>
              </a:rPr>
              <a:t>Business Impact &amp; Conclusion</a:t>
            </a:r>
            <a:endParaRPr lang="en-US" sz="2600" dirty="0"/>
          </a:p>
        </p:txBody>
      </p:sp>
      <p:sp>
        <p:nvSpPr>
          <p:cNvPr id="5" name="Shape 3"/>
          <p:cNvSpPr/>
          <p:nvPr/>
        </p:nvSpPr>
        <p:spPr>
          <a:xfrm>
            <a:off x="274320" y="1143000"/>
            <a:ext cx="1920240" cy="1463040"/>
          </a:xfrm>
          <a:prstGeom prst="rect">
            <a:avLst/>
          </a:prstGeom>
          <a:solidFill>
            <a:srgbClr val="162537"/>
          </a:solidFill>
          <a:ln w="25400">
            <a:solidFill>
              <a:srgbClr val="06D6A0"/>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274320" y="1188720"/>
            <a:ext cx="1920240" cy="868680"/>
          </a:xfrm>
          <a:prstGeom prst="rect">
            <a:avLst/>
          </a:prstGeom>
          <a:noFill/>
          <a:ln/>
        </p:spPr>
        <p:txBody>
          <a:bodyPr wrap="square" rtlCol="0" anchor="ctr"/>
          <a:lstStyle/>
          <a:p>
            <a:pPr algn="ctr" indent="0" marL="0">
              <a:buNone/>
            </a:pPr>
            <a:r>
              <a:rPr lang="en-US" sz="3200" b="1" dirty="0">
                <a:solidFill>
                  <a:srgbClr val="06D6A0"/>
                </a:solidFill>
                <a:latin typeface="Calibri" pitchFamily="34" charset="0"/>
                <a:ea typeface="Calibri" pitchFamily="34" charset="-122"/>
                <a:cs typeface="Calibri" pitchFamily="34" charset="-120"/>
              </a:rPr>
              <a:t>20-30%</a:t>
            </a:r>
            <a:endParaRPr lang="en-US" sz="3200" dirty="0"/>
          </a:p>
        </p:txBody>
      </p:sp>
      <p:sp>
        <p:nvSpPr>
          <p:cNvPr id="7" name="Text 5"/>
          <p:cNvSpPr/>
          <p:nvPr/>
        </p:nvSpPr>
        <p:spPr>
          <a:xfrm>
            <a:off x="365760" y="2084832"/>
            <a:ext cx="1737360" cy="457200"/>
          </a:xfrm>
          <a:prstGeom prst="rect">
            <a:avLst/>
          </a:prstGeom>
          <a:noFill/>
          <a:ln/>
        </p:spPr>
        <p:txBody>
          <a:bodyPr wrap="square" rtlCol="0" anchor="ctr"/>
          <a:lstStyle/>
          <a:p>
            <a:pPr algn="ctr" indent="0" marL="0">
              <a:buNone/>
            </a:pPr>
            <a:r>
              <a:rPr lang="en-US" sz="1000" dirty="0">
                <a:solidFill>
                  <a:srgbClr val="E8F4FD"/>
                </a:solidFill>
              </a:rPr>
              <a:t>Waste Reduction</a:t>
            </a:r>
            <a:endParaRPr lang="en-US" sz="1000" dirty="0"/>
          </a:p>
        </p:txBody>
      </p:sp>
      <p:sp>
        <p:nvSpPr>
          <p:cNvPr id="8" name="Shape 6"/>
          <p:cNvSpPr/>
          <p:nvPr/>
        </p:nvSpPr>
        <p:spPr>
          <a:xfrm>
            <a:off x="2377440" y="1143000"/>
            <a:ext cx="1920240" cy="1463040"/>
          </a:xfrm>
          <a:prstGeom prst="rect">
            <a:avLst/>
          </a:prstGeom>
          <a:solidFill>
            <a:srgbClr val="162537"/>
          </a:solidFill>
          <a:ln w="25400">
            <a:solidFill>
              <a:srgbClr val="FFD166"/>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2377440" y="1188720"/>
            <a:ext cx="1920240" cy="868680"/>
          </a:xfrm>
          <a:prstGeom prst="rect">
            <a:avLst/>
          </a:prstGeom>
          <a:noFill/>
          <a:ln/>
        </p:spPr>
        <p:txBody>
          <a:bodyPr wrap="square" rtlCol="0" anchor="ctr"/>
          <a:lstStyle/>
          <a:p>
            <a:pPr algn="ctr" indent="0" marL="0">
              <a:buNone/>
            </a:pPr>
            <a:r>
              <a:rPr lang="en-US" sz="3200" b="1" dirty="0">
                <a:solidFill>
                  <a:srgbClr val="FFD166"/>
                </a:solidFill>
                <a:latin typeface="Calibri" pitchFamily="34" charset="0"/>
                <a:ea typeface="Calibri" pitchFamily="34" charset="-122"/>
                <a:cs typeface="Calibri" pitchFamily="34" charset="-120"/>
              </a:rPr>
              <a:t>41%</a:t>
            </a:r>
            <a:endParaRPr lang="en-US" sz="3200" dirty="0"/>
          </a:p>
        </p:txBody>
      </p:sp>
      <p:sp>
        <p:nvSpPr>
          <p:cNvPr id="10" name="Text 8"/>
          <p:cNvSpPr/>
          <p:nvPr/>
        </p:nvSpPr>
        <p:spPr>
          <a:xfrm>
            <a:off x="2468880" y="2084832"/>
            <a:ext cx="1737360" cy="457200"/>
          </a:xfrm>
          <a:prstGeom prst="rect">
            <a:avLst/>
          </a:prstGeom>
          <a:noFill/>
          <a:ln/>
        </p:spPr>
        <p:txBody>
          <a:bodyPr wrap="square" rtlCol="0" anchor="ctr"/>
          <a:lstStyle/>
          <a:p>
            <a:pPr algn="ctr" indent="0" marL="0">
              <a:buNone/>
            </a:pPr>
            <a:r>
              <a:rPr lang="en-US" sz="1000" dirty="0">
                <a:solidFill>
                  <a:srgbClr val="E8F4FD"/>
                </a:solidFill>
              </a:rPr>
              <a:t>Festival Demand Lift Identified</a:t>
            </a:r>
            <a:endParaRPr lang="en-US" sz="1000" dirty="0"/>
          </a:p>
        </p:txBody>
      </p:sp>
      <p:sp>
        <p:nvSpPr>
          <p:cNvPr id="11" name="Shape 9"/>
          <p:cNvSpPr/>
          <p:nvPr/>
        </p:nvSpPr>
        <p:spPr>
          <a:xfrm>
            <a:off x="4480560" y="1143000"/>
            <a:ext cx="1920240" cy="1463040"/>
          </a:xfrm>
          <a:prstGeom prst="rect">
            <a:avLst/>
          </a:prstGeom>
          <a:solidFill>
            <a:srgbClr val="162537"/>
          </a:solidFill>
          <a:ln w="25400">
            <a:solidFill>
              <a:srgbClr val="00B4D8"/>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4480560" y="1188720"/>
            <a:ext cx="1920240" cy="868680"/>
          </a:xfrm>
          <a:prstGeom prst="rect">
            <a:avLst/>
          </a:prstGeom>
          <a:noFill/>
          <a:ln/>
        </p:spPr>
        <p:txBody>
          <a:bodyPr wrap="square" rtlCol="0" anchor="ctr"/>
          <a:lstStyle/>
          <a:p>
            <a:pPr algn="ctr" indent="0" marL="0">
              <a:buNone/>
            </a:pPr>
            <a:r>
              <a:rPr lang="en-US" sz="3200" b="1" dirty="0">
                <a:solidFill>
                  <a:srgbClr val="00B4D8"/>
                </a:solidFill>
                <a:latin typeface="Calibri" pitchFamily="34" charset="0"/>
                <a:ea typeface="Calibri" pitchFamily="34" charset="-122"/>
                <a:cs typeface="Calibri" pitchFamily="34" charset="-120"/>
              </a:rPr>
              <a:t>5 Yrs</a:t>
            </a:r>
            <a:endParaRPr lang="en-US" sz="3200" dirty="0"/>
          </a:p>
        </p:txBody>
      </p:sp>
      <p:sp>
        <p:nvSpPr>
          <p:cNvPr id="13" name="Text 11"/>
          <p:cNvSpPr/>
          <p:nvPr/>
        </p:nvSpPr>
        <p:spPr>
          <a:xfrm>
            <a:off x="4572000" y="2084832"/>
            <a:ext cx="1737360" cy="457200"/>
          </a:xfrm>
          <a:prstGeom prst="rect">
            <a:avLst/>
          </a:prstGeom>
          <a:noFill/>
          <a:ln/>
        </p:spPr>
        <p:txBody>
          <a:bodyPr wrap="square" rtlCol="0" anchor="ctr"/>
          <a:lstStyle/>
          <a:p>
            <a:pPr algn="ctr" indent="0" marL="0">
              <a:buNone/>
            </a:pPr>
            <a:r>
              <a:rPr lang="en-US" sz="1000" dirty="0">
                <a:solidFill>
                  <a:srgbClr val="E8F4FD"/>
                </a:solidFill>
              </a:rPr>
              <a:t>Historical Data Analyzed</a:t>
            </a:r>
            <a:endParaRPr lang="en-US" sz="1000" dirty="0"/>
          </a:p>
        </p:txBody>
      </p:sp>
      <p:sp>
        <p:nvSpPr>
          <p:cNvPr id="14" name="Shape 12"/>
          <p:cNvSpPr/>
          <p:nvPr/>
        </p:nvSpPr>
        <p:spPr>
          <a:xfrm>
            <a:off x="6583680" y="1143000"/>
            <a:ext cx="1920240" cy="1463040"/>
          </a:xfrm>
          <a:prstGeom prst="rect">
            <a:avLst/>
          </a:prstGeom>
          <a:solidFill>
            <a:srgbClr val="162537"/>
          </a:solidFill>
          <a:ln w="25400">
            <a:solidFill>
              <a:srgbClr val="A78BFA"/>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6583680" y="1188720"/>
            <a:ext cx="1920240" cy="868680"/>
          </a:xfrm>
          <a:prstGeom prst="rect">
            <a:avLst/>
          </a:prstGeom>
          <a:noFill/>
          <a:ln/>
        </p:spPr>
        <p:txBody>
          <a:bodyPr wrap="square" rtlCol="0" anchor="ctr"/>
          <a:lstStyle/>
          <a:p>
            <a:pPr algn="ctr" indent="0" marL="0">
              <a:buNone/>
            </a:pPr>
            <a:r>
              <a:rPr lang="en-US" sz="3200" b="1" dirty="0">
                <a:solidFill>
                  <a:srgbClr val="A78BFA"/>
                </a:solidFill>
                <a:latin typeface="Calibri" pitchFamily="34" charset="0"/>
                <a:ea typeface="Calibri" pitchFamily="34" charset="-122"/>
                <a:cs typeface="Calibri" pitchFamily="34" charset="-120"/>
              </a:rPr>
              <a:t>3</a:t>
            </a:r>
            <a:endParaRPr lang="en-US" sz="3200" dirty="0"/>
          </a:p>
        </p:txBody>
      </p:sp>
      <p:sp>
        <p:nvSpPr>
          <p:cNvPr id="16" name="Text 14"/>
          <p:cNvSpPr/>
          <p:nvPr/>
        </p:nvSpPr>
        <p:spPr>
          <a:xfrm>
            <a:off x="6675120" y="2084832"/>
            <a:ext cx="1737360" cy="457200"/>
          </a:xfrm>
          <a:prstGeom prst="rect">
            <a:avLst/>
          </a:prstGeom>
          <a:noFill/>
          <a:ln/>
        </p:spPr>
        <p:txBody>
          <a:bodyPr wrap="square" rtlCol="0" anchor="ctr"/>
          <a:lstStyle/>
          <a:p>
            <a:pPr algn="ctr" indent="0" marL="0">
              <a:buNone/>
            </a:pPr>
            <a:r>
              <a:rPr lang="en-US" sz="1000" dirty="0">
                <a:solidFill>
                  <a:srgbClr val="E8F4FD"/>
                </a:solidFill>
              </a:rPr>
              <a:t>ML Models Benchmarked</a:t>
            </a:r>
            <a:endParaRPr lang="en-US" sz="1000" dirty="0"/>
          </a:p>
        </p:txBody>
      </p:sp>
      <p:sp>
        <p:nvSpPr>
          <p:cNvPr id="17" name="Shape 15"/>
          <p:cNvSpPr/>
          <p:nvPr/>
        </p:nvSpPr>
        <p:spPr>
          <a:xfrm>
            <a:off x="274320" y="2834640"/>
            <a:ext cx="8595360" cy="2057400"/>
          </a:xfrm>
          <a:prstGeom prst="rect">
            <a:avLst/>
          </a:prstGeom>
          <a:solidFill>
            <a:srgbClr val="162537"/>
          </a:solidFill>
          <a:ln w="19050">
            <a:solidFill>
              <a:srgbClr val="00B4D8"/>
            </a:solidFill>
            <a:prstDash val="solid"/>
          </a:ln>
          <a:effectLst>
            <a:outerShdw sx="100000" sy="100000" kx="0" ky="0" algn="bl" rotWithShape="0" blurRad="101600" dist="38100" dir="8100000">
              <a:srgbClr val="000000">
                <a:alpha val="25000"/>
              </a:srgbClr>
            </a:outerShdw>
          </a:effectLst>
        </p:spPr>
      </p:sp>
      <p:sp>
        <p:nvSpPr>
          <p:cNvPr id="18" name="Text 16"/>
          <p:cNvSpPr/>
          <p:nvPr/>
        </p:nvSpPr>
        <p:spPr>
          <a:xfrm>
            <a:off x="457200" y="2971800"/>
            <a:ext cx="2743200" cy="365760"/>
          </a:xfrm>
          <a:prstGeom prst="rect">
            <a:avLst/>
          </a:prstGeom>
          <a:noFill/>
          <a:ln/>
        </p:spPr>
        <p:txBody>
          <a:bodyPr wrap="square" rtlCol="0" anchor="ctr"/>
          <a:lstStyle/>
          <a:p>
            <a:pPr indent="0" marL="0">
              <a:buNone/>
            </a:pPr>
            <a:r>
              <a:rPr lang="en-US" sz="1400" b="1" dirty="0">
                <a:solidFill>
                  <a:srgbClr val="00B4D8"/>
                </a:solidFill>
              </a:rPr>
              <a:t>🎯  Conclusion</a:t>
            </a:r>
            <a:endParaRPr lang="en-US" sz="1400" dirty="0"/>
          </a:p>
        </p:txBody>
      </p:sp>
      <p:sp>
        <p:nvSpPr>
          <p:cNvPr id="19" name="Text 17"/>
          <p:cNvSpPr/>
          <p:nvPr/>
        </p:nvSpPr>
        <p:spPr>
          <a:xfrm>
            <a:off x="457200" y="3383280"/>
            <a:ext cx="8138160" cy="1371600"/>
          </a:xfrm>
          <a:prstGeom prst="rect">
            <a:avLst/>
          </a:prstGeom>
          <a:noFill/>
          <a:ln/>
        </p:spPr>
        <p:txBody>
          <a:bodyPr wrap="square" rtlCol="0" anchor="ctr"/>
          <a:lstStyle/>
          <a:p>
            <a:pPr indent="0" marL="0">
              <a:buNone/>
            </a:pPr>
            <a:r>
              <a:rPr lang="en-US" sz="1150" dirty="0">
                <a:solidFill>
                  <a:srgbClr val="E8F4FD"/>
                </a:solidFill>
                <a:latin typeface="Calibri" pitchFamily="34" charset="0"/>
                <a:ea typeface="Calibri" pitchFamily="34" charset="-122"/>
                <a:cs typeface="Calibri" pitchFamily="34" charset="-120"/>
              </a:rPr>
              <a:t>The Smart Dairy Demand Intelligence System successfully demonstrates how AI and machine learning can transform dairy supply chain management. By combining Prophet forecasting with interactive EDA, the dashboard empowers business owners to:</a:t>
            </a:r>
            <a:endParaRPr lang="en-US" sz="1150" dirty="0"/>
          </a:p>
          <a:p>
            <a:pPr indent="0" marL="0">
              <a:buNone/>
            </a:pPr>
            <a:r>
              <a:rPr lang="en-US" sz="1150" dirty="0">
                <a:solidFill>
                  <a:srgbClr val="E8F4FD"/>
                </a:solidFill>
                <a:latin typeface="Calibri" pitchFamily="34" charset="0"/>
                <a:ea typeface="Calibri" pitchFamily="34" charset="-122"/>
                <a:cs typeface="Calibri" pitchFamily="34" charset="-120"/>
              </a:rPr>
              <a:t>• Make data-driven procurement decisions</a:t>
            </a:r>
            <a:endParaRPr lang="en-US" sz="1150" dirty="0"/>
          </a:p>
          <a:p>
            <a:pPr indent="0" marL="0">
              <a:buNone/>
            </a:pPr>
            <a:r>
              <a:rPr lang="en-US" sz="1150" dirty="0">
                <a:solidFill>
                  <a:srgbClr val="E8F4FD"/>
                </a:solidFill>
                <a:latin typeface="Calibri" pitchFamily="34" charset="0"/>
                <a:ea typeface="Calibri" pitchFamily="34" charset="-122"/>
                <a:cs typeface="Calibri" pitchFamily="34" charset="-120"/>
              </a:rPr>
              <a:t>• Plan ahead for seasonal and festival demand spikes</a:t>
            </a:r>
            <a:endParaRPr lang="en-US" sz="1150" dirty="0"/>
          </a:p>
          <a:p>
            <a:pPr indent="0" marL="0">
              <a:buNone/>
            </a:pPr>
            <a:r>
              <a:rPr lang="en-US" sz="1150" dirty="0">
                <a:solidFill>
                  <a:srgbClr val="E8F4FD"/>
                </a:solidFill>
                <a:latin typeface="Calibri" pitchFamily="34" charset="0"/>
                <a:ea typeface="Calibri" pitchFamily="34" charset="-122"/>
                <a:cs typeface="Calibri" pitchFamily="34" charset="-120"/>
              </a:rPr>
              <a:t>• Reduce overstock and stockout situations</a:t>
            </a:r>
            <a:endParaRPr lang="en-US" sz="1150" dirty="0"/>
          </a:p>
          <a:p>
            <a:pPr indent="0" marL="0">
              <a:buNone/>
            </a:pPr>
            <a:r>
              <a:rPr lang="en-US" sz="1150" dirty="0">
                <a:solidFill>
                  <a:srgbClr val="E8F4FD"/>
                </a:solidFill>
                <a:latin typeface="Calibri" pitchFamily="34" charset="0"/>
                <a:ea typeface="Calibri" pitchFamily="34" charset="-122"/>
                <a:cs typeface="Calibri" pitchFamily="34" charset="-120"/>
              </a:rPr>
              <a:t>• Analyze performance across 5 products and 4 regions seamlessly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371600" y="-914400"/>
            <a:ext cx="5029200" cy="5029200"/>
          </a:xfrm>
          <a:prstGeom prst="ellipse">
            <a:avLst/>
          </a:prstGeom>
          <a:solidFill>
            <a:srgbClr val="023E8A">
              <a:alpha val="35000"/>
            </a:srgbClr>
          </a:solidFill>
          <a:ln w="12700">
            <a:solidFill>
              <a:srgbClr val="023E8A"/>
            </a:solidFill>
            <a:prstDash val="solid"/>
          </a:ln>
        </p:spPr>
      </p:sp>
      <p:sp>
        <p:nvSpPr>
          <p:cNvPr id="3" name="Shape 1"/>
          <p:cNvSpPr/>
          <p:nvPr/>
        </p:nvSpPr>
        <p:spPr>
          <a:xfrm>
            <a:off x="6858000" y="2286000"/>
            <a:ext cx="3657600" cy="3657600"/>
          </a:xfrm>
          <a:prstGeom prst="ellipse">
            <a:avLst/>
          </a:prstGeom>
          <a:solidFill>
            <a:srgbClr val="00B4D8">
              <a:alpha val="25000"/>
            </a:srgbClr>
          </a:solidFill>
          <a:ln w="12700">
            <a:solidFill>
              <a:srgbClr val="00B4D8"/>
            </a:solidFill>
            <a:prstDash val="solid"/>
          </a:ln>
        </p:spPr>
      </p:sp>
      <p:sp>
        <p:nvSpPr>
          <p:cNvPr id="4" name="Text 2"/>
          <p:cNvSpPr/>
          <p:nvPr/>
        </p:nvSpPr>
        <p:spPr>
          <a:xfrm>
            <a:off x="914400" y="1097280"/>
            <a:ext cx="7315200" cy="1371600"/>
          </a:xfrm>
          <a:prstGeom prst="rect">
            <a:avLst/>
          </a:prstGeom>
          <a:noFill/>
          <a:ln/>
        </p:spPr>
        <p:txBody>
          <a:bodyPr wrap="square" rtlCol="0" anchor="ctr"/>
          <a:lstStyle/>
          <a:p>
            <a:pPr algn="ctr" indent="0" marL="0">
              <a:buNone/>
            </a:pPr>
            <a:r>
              <a:rPr lang="en-US" sz="5800" b="1" dirty="0">
                <a:solidFill>
                  <a:srgbClr val="FFFFFF"/>
                </a:solidFill>
                <a:latin typeface="Calibri" pitchFamily="34" charset="0"/>
                <a:ea typeface="Calibri" pitchFamily="34" charset="-122"/>
                <a:cs typeface="Calibri" pitchFamily="34" charset="-120"/>
              </a:rPr>
              <a:t>Thank You!</a:t>
            </a:r>
            <a:endParaRPr lang="en-US" sz="5800" dirty="0"/>
          </a:p>
        </p:txBody>
      </p:sp>
      <p:sp>
        <p:nvSpPr>
          <p:cNvPr id="5" name="Shape 3"/>
          <p:cNvSpPr/>
          <p:nvPr/>
        </p:nvSpPr>
        <p:spPr>
          <a:xfrm>
            <a:off x="3200400" y="2606040"/>
            <a:ext cx="2743200" cy="45720"/>
          </a:xfrm>
          <a:prstGeom prst="rect">
            <a:avLst/>
          </a:prstGeom>
          <a:solidFill>
            <a:srgbClr val="00B4D8"/>
          </a:solidFill>
          <a:ln w="12700">
            <a:solidFill>
              <a:srgbClr val="00B4D8"/>
            </a:solidFill>
            <a:prstDash val="solid"/>
          </a:ln>
        </p:spPr>
      </p:sp>
      <p:sp>
        <p:nvSpPr>
          <p:cNvPr id="6" name="Text 4"/>
          <p:cNvSpPr/>
          <p:nvPr/>
        </p:nvSpPr>
        <p:spPr>
          <a:xfrm>
            <a:off x="457200" y="2834640"/>
            <a:ext cx="8229600" cy="457200"/>
          </a:xfrm>
          <a:prstGeom prst="rect">
            <a:avLst/>
          </a:prstGeom>
          <a:noFill/>
          <a:ln/>
        </p:spPr>
        <p:txBody>
          <a:bodyPr wrap="square" rtlCol="0" anchor="ctr"/>
          <a:lstStyle/>
          <a:p>
            <a:pPr algn="ctr" indent="0" marL="0">
              <a:buNone/>
            </a:pPr>
            <a:r>
              <a:rPr lang="en-US" sz="1600" b="1" dirty="0">
                <a:solidFill>
                  <a:srgbClr val="00B4D8"/>
                </a:solidFill>
              </a:rPr>
              <a:t>Smart Dairy Demand Intelligence System</a:t>
            </a:r>
            <a:endParaRPr lang="en-US" sz="1600" dirty="0"/>
          </a:p>
        </p:txBody>
      </p:sp>
      <p:sp>
        <p:nvSpPr>
          <p:cNvPr id="7" name="Text 5"/>
          <p:cNvSpPr/>
          <p:nvPr/>
        </p:nvSpPr>
        <p:spPr>
          <a:xfrm>
            <a:off x="457200" y="3337560"/>
            <a:ext cx="8229600" cy="365760"/>
          </a:xfrm>
          <a:prstGeom prst="rect">
            <a:avLst/>
          </a:prstGeom>
          <a:noFill/>
          <a:ln/>
        </p:spPr>
        <p:txBody>
          <a:bodyPr wrap="square" rtlCol="0" anchor="ctr"/>
          <a:lstStyle/>
          <a:p>
            <a:pPr algn="ctr" indent="0" marL="0">
              <a:buNone/>
            </a:pPr>
            <a:r>
              <a:rPr lang="en-US" sz="1300" dirty="0">
                <a:solidFill>
                  <a:srgbClr val="8DA9C4"/>
                </a:solidFill>
              </a:rPr>
              <a:t>AI-Powered Forecasting with ARIMA • SARIMA • Prophet</a:t>
            </a:r>
            <a:endParaRPr lang="en-US" sz="1300" dirty="0"/>
          </a:p>
        </p:txBody>
      </p:sp>
      <p:sp>
        <p:nvSpPr>
          <p:cNvPr id="8" name="Text 6"/>
          <p:cNvSpPr/>
          <p:nvPr/>
        </p:nvSpPr>
        <p:spPr>
          <a:xfrm>
            <a:off x="457200" y="4480560"/>
            <a:ext cx="8229600" cy="320040"/>
          </a:xfrm>
          <a:prstGeom prst="rect">
            <a:avLst/>
          </a:prstGeom>
          <a:noFill/>
          <a:ln/>
        </p:spPr>
        <p:txBody>
          <a:bodyPr wrap="square" rtlCol="0" anchor="ctr"/>
          <a:lstStyle/>
          <a:p>
            <a:pPr algn="ctr" indent="0" marL="0">
              <a:buNone/>
            </a:pPr>
            <a:r>
              <a:rPr lang="en-US" sz="1100" dirty="0">
                <a:solidFill>
                  <a:srgbClr val="8DA9C4"/>
                </a:solidFill>
              </a:rPr>
              <a:t>Built with  Python • Streamlit • Pandas • Plotly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Dairy Demand Intelligence System</dc:title>
  <dc:subject>PptxGenJS Presentation</dc:subject>
  <dc:creator>PptxGenJS</dc:creator>
  <cp:lastModifiedBy>PptxGenJS</cp:lastModifiedBy>
  <cp:revision>1</cp:revision>
  <dcterms:created xsi:type="dcterms:W3CDTF">2026-05-10T17:22:08Z</dcterms:created>
  <dcterms:modified xsi:type="dcterms:W3CDTF">2026-05-10T17:22:08Z</dcterms:modified>
</cp:coreProperties>
</file>